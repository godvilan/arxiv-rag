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CS5720  ·  Neural Networks &amp; Deep Learning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1036015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Empirical Evaluation of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 Models in RAG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Domain-Specific QA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arXiv-rag — Complete Implementation Results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219456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931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3840480"/>
            <a:ext cx="219456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3931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383280" y="4572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3840480"/>
            <a:ext cx="219456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0" y="3931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852160" y="4572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Pairs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21040" y="3840480"/>
            <a:ext cx="219456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0" y="3931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321040" y="4572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1722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Reddy Nandireddy (700773949)  ·  Harshit Naidu (700776786)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Central Missouri  ·  Dr. Muhammad Zubair Khan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Dense Retrieval Matters in RAG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566160" cy="41148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Hallucination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generate plausible but factually incorrect responses when queries require domain knowledge not in training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0832" y="1371600"/>
            <a:ext cx="3566160" cy="41148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70832" y="1508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370832" y="2194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Bottleneck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3712" y="269748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quality is only as good as retrieval. A weak retriever returns irrelevant passages — the generator cannot compensate.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84464" y="1371600"/>
            <a:ext cx="3566160" cy="41148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84464" y="1508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❓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84464" y="2194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 vs Dense?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67344" y="269748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semantic embedding offer a real advantage over classical term-frequency retrieval for ML research papers?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669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566928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different transformer embedding models affect RAG performance for ML research question answering?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RAG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arXiv API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papers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cs.LG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0" y="1965960"/>
            <a:ext cx="34747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PyMuPDF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1965960"/>
            <a:ext cx="34747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256/512/1024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20640" y="1965960"/>
            <a:ext cx="34747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MiniLM/MPNet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+ BM25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1965960"/>
            <a:ext cx="34747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FAISS Index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IndexFlatIP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cosine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412480" y="1965960"/>
            <a:ext cx="34747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058400" y="1965960"/>
            <a:ext cx="34747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4984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4984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14984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Flash Lite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26060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INDEXING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QUERY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2834640"/>
            <a:ext cx="6675120" cy="0"/>
          </a:xfrm>
          <a:prstGeom prst="line">
            <a:avLst/>
          </a:prstGeom>
          <a:noFill/>
          <a:ln w="6350">
            <a:solidFill>
              <a:srgbClr val="0077B6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8046720" y="2834640"/>
            <a:ext cx="3657600" cy="0"/>
          </a:xfrm>
          <a:prstGeom prst="line">
            <a:avLst/>
          </a:prstGeom>
          <a:noFill/>
          <a:ln w="6350">
            <a:solidFill>
              <a:srgbClr val="06D6A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5720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 Structure  (rag/)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35204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rag/data/collector.py  —  arXiv downloader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39319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rag/processing/chunker.py  —  PDF extraction + recursive chunking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34340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rag/retrieval/dense.py  —  FAISS dense retriever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rag/retrieval/bm25.py  —  BM25 sparse baseline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516636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rag/generation/generator.py  —  Gemini + rate limiter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55778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rag/evaluation/metrics.py  —  Recall@K, Precision@K, MRR, AR, Faithfulness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75120" y="3108960"/>
            <a:ext cx="5212080" cy="347472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858000" y="3200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5800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Extraction: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823960" y="3611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1.25.5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858000" y="39959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823960" y="39959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3.0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58000" y="43799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Index: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823960" y="437997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IndexFlatIP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58000" y="47640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Baseline: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823960" y="476402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rank-bm25 (Okapi BM25)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858000" y="5148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Generation: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823960" y="51480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Lite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58000" y="5532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823960" y="5532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858000" y="59161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Acceleration: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823960" y="59161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MPS / CUDA / CPU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and Embedding Models Under Evaluation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46888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63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cs.LG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46888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463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8,131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0040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Chunks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(256 tokens)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46888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463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3,915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03504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Chunks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(512 tokens)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69680" y="1371600"/>
            <a:ext cx="246888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0" y="1463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86968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2743200" cy="3566160"/>
          </a:xfrm>
          <a:prstGeom prst="rect">
            <a:avLst/>
          </a:prstGeom>
          <a:solidFill>
            <a:srgbClr val="122844"/>
          </a:solidFill>
          <a:ln w="9525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43200"/>
            <a:ext cx="2743200" cy="4114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43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MiniLM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576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6   Dim: 384d   Params: 22M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10128" y="2743200"/>
            <a:ext cx="2743200" cy="3566160"/>
          </a:xfrm>
          <a:prstGeom prst="rect">
            <a:avLst/>
          </a:prstGeom>
          <a:solidFill>
            <a:srgbClr val="122844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10128" y="2743200"/>
            <a:ext cx="27432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743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10128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MPNet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10128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all-mpnet-base-v2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10128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12   Dim: 768d   Params: 110M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54496" y="2743200"/>
            <a:ext cx="2743200" cy="356616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54496" y="2743200"/>
            <a:ext cx="274320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2743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54496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BGE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54496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BAAI/bge-large-en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54496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24   Dim: 1024d   Params: 335M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98864" y="2743200"/>
            <a:ext cx="2743200" cy="3566160"/>
          </a:xfrm>
          <a:prstGeom prst="rect">
            <a:avLst/>
          </a:prstGeom>
          <a:solidFill>
            <a:srgbClr val="122844"/>
          </a:solidFill>
          <a:ln w="9525">
            <a:solidFill>
              <a:srgbClr val="8ECA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98864" y="2743200"/>
            <a:ext cx="2743200" cy="411480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98864" y="2743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98864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198864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Okapi BM25 (rank-bm25)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198864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—   Dim: sparse   Params: 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sizes tested: 256  ·  512  ·  1024 tokens  (64-token overlap)   |   Top-K tested: 3  ·  5  · 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RETRIEVAL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MRR Performance Across All Configurations</a:t>
            </a:r>
            <a:endParaRPr lang="en-US" sz="3200" dirty="0"/>
          </a:p>
        </p:txBody>
      </p:sp>
      <p:pic>
        <p:nvPicPr>
          <p:cNvPr id="5" name="Image 0" descr="/home/claude/M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713232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280160"/>
            <a:ext cx="4114800" cy="118872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6384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Perfect MRR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63840" y="1737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BGE: 1.000 at chunk 256 and 512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0" y="2651760"/>
            <a:ext cx="4114800" cy="118872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863840" y="2743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 Baseline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63840" y="3108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range: 0.946 – 0.975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0" y="4023360"/>
            <a:ext cx="4114800" cy="128016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863840" y="4114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1024 Gap Narrows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63840" y="44805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(0.975) surpasses MPNet (0.938) at chunk 1024 — sparse retrieval improves with larger chunks</a:t>
            </a:r>
            <a:endParaRPr lang="en-US" sz="1000" dirty="0"/>
          </a:p>
        </p:txBody>
      </p:sp>
      <p:pic>
        <p:nvPicPr>
          <p:cNvPr id="15" name="Image 1" descr="/home/claude/heatmap_MR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074920"/>
            <a:ext cx="7132320" cy="1554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row is uniformly darkest — highest MRR across every chunk size configuration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PRECISION &amp; RECALL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Precision@5 and Recall@5 Across Chunk Sizes</a:t>
            </a:r>
            <a:endParaRPr lang="en-US" sz="3200" dirty="0"/>
          </a:p>
        </p:txBody>
      </p:sp>
      <p:pic>
        <p:nvPicPr>
          <p:cNvPr id="5" name="Image 0" descr="/home/claude/Precision_at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5669280" cy="2834640"/>
          </a:xfrm>
          <a:prstGeom prst="rect">
            <a:avLst/>
          </a:prstGeom>
        </p:spPr>
      </p:pic>
      <p:pic>
        <p:nvPicPr>
          <p:cNvPr id="6" name="Image 1" descr="/home/claude/Recall_at_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669280" cy="2834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42519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217920" y="42519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74320" y="4617720"/>
            <a:ext cx="5669280" cy="777240"/>
          </a:xfrm>
          <a:prstGeom prst="rect">
            <a:avLst/>
          </a:prstGeom>
          <a:solidFill>
            <a:srgbClr val="122844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11480" y="46634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 falls with chunk size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11480" y="496519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— larger chunks introduce more off-topic content per unit. BGE maintains highest precision at every size.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17920" y="4617720"/>
            <a:ext cx="5669280" cy="77724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355080" y="46634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grows with chunk size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355080" y="496519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 doubles from chunk 256→512 across all models. More content per chunk = better paper coverage.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5532120"/>
            <a:ext cx="5669280" cy="77724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11480" y="55778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BGE leads precision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11480" y="587959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Precision@5: 0.995 (256), 0.975 (512), 0.915 (1024). BM25 consistently 3–7% lower.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5532120"/>
            <a:ext cx="5669280" cy="777240"/>
          </a:xfrm>
          <a:prstGeom prst="rect">
            <a:avLst/>
          </a:prstGeom>
          <a:solidFill>
            <a:srgbClr val="122844"/>
          </a:solidFill>
          <a:ln w="9525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355080" y="55778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 recall competitive at 1024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355080" y="587959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Recall@5 = 0.316 at chunk 1024, matching or exceeding dense models — sparse retrieval catches up at large chunk sizes.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BM25 vs DENSE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Sparse Baseline vs Best Dense Model — MRR</a:t>
            </a:r>
            <a:endParaRPr lang="en-US" sz="3200" dirty="0"/>
          </a:p>
        </p:txBody>
      </p:sp>
      <p:pic>
        <p:nvPicPr>
          <p:cNvPr id="5" name="Image 0" descr="/home/claude/bm25_vs_de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8580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280160"/>
            <a:ext cx="4297680" cy="493776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Comparison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0" y="1828800"/>
            <a:ext cx="3931920" cy="109728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1874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256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2148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BM25: 0.950   BGE: 1.000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63840" y="2423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gain: +5%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0" y="3108960"/>
            <a:ext cx="3931920" cy="109728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863840" y="3154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512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863840" y="3429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BM25: 0.946   BGE: 1.000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863840" y="3703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gain: +6%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0" y="4389120"/>
            <a:ext cx="3931920" cy="1097280"/>
          </a:xfrm>
          <a:prstGeom prst="rect">
            <a:avLst/>
          </a:prstGeom>
          <a:solidFill>
            <a:srgbClr val="122844"/>
          </a:solidFill>
          <a:ln w="9525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863840" y="4434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1024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863840" y="4709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BM25: 0.975   BGE: 0.983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863840" y="4983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gain: +1%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72400" y="48463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consistently outperforms BM25 on MRR.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narrows at chunk 1024 as term overlap increases.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GENERATION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 Quality  ·  Chunk Size 512  ·  Top-K 5</a:t>
            </a:r>
            <a:endParaRPr lang="en-US" sz="3200" dirty="0"/>
          </a:p>
        </p:txBody>
      </p:sp>
      <p:pic>
        <p:nvPicPr>
          <p:cNvPr id="5" name="Image 0" descr="/home/claude/generation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11640312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754880"/>
            <a:ext cx="2743200" cy="173736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4754880"/>
            <a:ext cx="2743200" cy="320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5120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7.7× Answer Relevance Gap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546811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BGE: 0.910  vs  BM25: 0.118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retrieval precision ≠ semantic answer quality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73552" y="4754880"/>
            <a:ext cx="2743200" cy="1737360"/>
          </a:xfrm>
          <a:prstGeom prst="rect">
            <a:avLst/>
          </a:prstGeom>
          <a:solidFill>
            <a:srgbClr val="122844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73552" y="4754880"/>
            <a:ext cx="27432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73552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64992" y="5120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Faithfulness Near-Perfect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64992" y="546811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dense models: 0.974 – 0.992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reliably grounds answers in context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72784" y="4754880"/>
            <a:ext cx="2743200" cy="173736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72784" y="4754880"/>
            <a:ext cx="2743200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72784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64224" y="5120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Precision High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64224" y="546811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and BM25: 1.000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are consistently used in answers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272016" y="4754880"/>
            <a:ext cx="2743200" cy="1737360"/>
          </a:xfrm>
          <a:prstGeom prst="rect">
            <a:avLst/>
          </a:prstGeom>
          <a:solidFill>
            <a:srgbClr val="122844"/>
          </a:solidFill>
          <a:ln w="9525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272016" y="4754880"/>
            <a:ext cx="2743200" cy="320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72016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363456" y="5120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is the Bottleneck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363456" y="546811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performance is stable — embedding choice determines final answer quality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LATENCY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vs Speed Trade-off  ·  Chunk Size 512</a:t>
            </a:r>
            <a:endParaRPr lang="en-US" sz="3200" dirty="0"/>
          </a:p>
        </p:txBody>
      </p:sp>
      <p:pic>
        <p:nvPicPr>
          <p:cNvPr id="5" name="Image 0" descr="/home/claude/la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5486400" cy="2834640"/>
          </a:xfrm>
          <a:prstGeom prst="rect">
            <a:avLst/>
          </a:prstGeom>
        </p:spPr>
      </p:pic>
      <p:pic>
        <p:nvPicPr>
          <p:cNvPr id="6" name="Image 1" descr="/home/claude/latency_vs_mr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34440"/>
            <a:ext cx="5943600" cy="2834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4160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per Query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943600" y="41605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Speed Scatter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74320" y="4526280"/>
            <a:ext cx="2743200" cy="192024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65760" y="4572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BGE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5760" y="49560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MRR: 1.000  ·  Latency: 37ms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65760" y="52303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AR: 0.910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65760" y="550468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— use when quality is critical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273552" y="4526280"/>
            <a:ext cx="2743200" cy="1920240"/>
          </a:xfrm>
          <a:prstGeom prst="rect">
            <a:avLst/>
          </a:prstGeom>
          <a:solidFill>
            <a:srgbClr val="122844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64992" y="4572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MPNet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364992" y="49560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MRR: 0.975  ·  Latency: 18ms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364992" y="52303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AR: 0.724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364992" y="550468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gains at moderate latency cost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272784" y="4526280"/>
            <a:ext cx="2743200" cy="1920240"/>
          </a:xfrm>
          <a:prstGeom prst="rect">
            <a:avLst/>
          </a:prstGeom>
          <a:solidFill>
            <a:srgbClr val="122844"/>
          </a:solidFill>
          <a:ln w="9525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364224" y="4572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MiniLM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364224" y="49560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MRR: 0.975  ·  Latency: 8ms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364224" y="52303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AR: 0.709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364224" y="550468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Best speed-accuracy — production default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9272016" y="4526280"/>
            <a:ext cx="2743200" cy="1920240"/>
          </a:xfrm>
          <a:prstGeom prst="rect">
            <a:avLst/>
          </a:prstGeom>
          <a:solidFill>
            <a:srgbClr val="122844"/>
          </a:solidFill>
          <a:ln w="9525">
            <a:solidFill>
              <a:srgbClr val="8ECA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9363456" y="4572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9363456" y="49560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MRR: 0.946  ·  Latency: 9ms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9363456" y="52303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AR: 0.118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9363456" y="550468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but poor generation quality — avoid for RAG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Results Tell 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577840" cy="1554480"/>
          </a:xfrm>
          <a:prstGeom prst="rect">
            <a:avLst/>
          </a:prstGeom>
          <a:solidFill>
            <a:srgbClr val="122844"/>
          </a:solidFill>
          <a:ln w="9525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" cy="15544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202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 ≠ Generation Quality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847088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P@5 = 0.900 but Answer Relevance = 0.118. High retrieval precision does not guarantee semantic alignment with query intent.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577840" cy="1554480"/>
          </a:xfrm>
          <a:prstGeom prst="rect">
            <a:avLst/>
          </a:prstGeom>
          <a:solidFill>
            <a:srgbClr val="122844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371600"/>
            <a:ext cx="411480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9202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12280" y="146304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 finds the paper, not the passage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12280" y="1847088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finds the passage most aligned with the question. For RAG, that distinction determines answer quality.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5577840" cy="155448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54680"/>
            <a:ext cx="411480" cy="1554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0332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24612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BGE is the best retriever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630168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MRR (1.000) at chunks 256 and 512. Model scale (24 layers, 1024d) and task-specific fine-tuning drive the advantage.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3154680"/>
            <a:ext cx="5577840" cy="155448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3154680"/>
            <a:ext cx="411480" cy="1554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70332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324612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MiniLM is production-optimal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12280" y="3630168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8ms latency — matches BM25 speed. 97.5% of BGE accuracy. Best speed-accuracy trade-off for latency-sensitive applications.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937760"/>
            <a:ext cx="5577840" cy="1554480"/>
          </a:xfrm>
          <a:prstGeom prst="rect">
            <a:avLst/>
          </a:prstGeom>
          <a:solidFill>
            <a:srgbClr val="122844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937760"/>
            <a:ext cx="411480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54864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512 is the sweet spot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5413248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MRR, Precision, and Recall. 256 = max precision; 1024 = max recall; 512 = best overall.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4937760"/>
            <a:ext cx="5577840" cy="1554480"/>
          </a:xfrm>
          <a:prstGeom prst="rect">
            <a:avLst/>
          </a:prstGeom>
          <a:solidFill>
            <a:srgbClr val="122844"/>
          </a:solidFill>
          <a:ln w="9525">
            <a:solidFill>
              <a:srgbClr val="7FAA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4937760"/>
            <a:ext cx="411480" cy="1554480"/>
          </a:xfrm>
          <a:prstGeom prst="rect">
            <a:avLst/>
          </a:prstGeom>
          <a:solidFill>
            <a:srgbClr val="7FAACC"/>
          </a:solidFill>
          <a:ln w="12700">
            <a:solidFill>
              <a:srgbClr val="7FAA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54864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Generator stays grounded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12280" y="5413248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0.974–0.992 across all dense models. Retrieval quality — not generation — is the bottleneck.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Deployment and Practical Guidelines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394960" cy="493776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Deployed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Streamlit UI — live model switching (BM25 / MiniLM / MPNet / BGE)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Source attribution chips per answer — title + similarity 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Searchable paper browser — all 120 papers in sidebar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Performance metric cards update with model selection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CLI: python main.py --model BGE --top_k 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Full benchmark: python scripts/run_experiments.py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120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Apple MPS auto-detected — GPU-accelerated on Mac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Embedding cache — reruns skip re-encoding (saves ~15 min)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5852160" cy="493776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Use BGE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17627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(MRR 1.000). Justified for quality-critical applications.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697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Use MiniLM for Speed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304495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8ms latency at 97.5% BGE accuracy — production default.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Chunk at 512 Tokens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91363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 of MRR, precision and recall across all models.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🚫 Avoid BM25 for Generation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478231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 Answer Relevance makes it unsuitable despite fast retrieval.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5303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🔮 Future Work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565099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BM25+dense, cross-encoder reranking, multi-domain evaluation.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Team, Responsibilities, and Contributions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1430000" cy="9144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Timeline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0332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93776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3484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7220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40664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0372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64108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13816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87552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260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37260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110996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60704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794760" y="1664208"/>
            <a:ext cx="1234440" cy="0"/>
          </a:xfrm>
          <a:prstGeom prst="line">
            <a:avLst/>
          </a:prstGeom>
          <a:noFill/>
          <a:ln w="9525">
            <a:solidFill>
              <a:srgbClr val="0077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1664208"/>
            <a:ext cx="1234440" cy="0"/>
          </a:xfrm>
          <a:prstGeom prst="line">
            <a:avLst/>
          </a:prstGeom>
          <a:noFill/>
          <a:ln w="9525">
            <a:solidFill>
              <a:srgbClr val="0077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1664208"/>
            <a:ext cx="1234440" cy="0"/>
          </a:xfrm>
          <a:prstGeom prst="line">
            <a:avLst/>
          </a:prstGeom>
          <a:noFill/>
          <a:ln w="9525">
            <a:solidFill>
              <a:srgbClr val="0077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664208"/>
            <a:ext cx="1234440" cy="0"/>
          </a:xfrm>
          <a:prstGeom prst="line">
            <a:avLst/>
          </a:prstGeom>
          <a:noFill/>
          <a:ln w="9525">
            <a:solidFill>
              <a:srgbClr val="0077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32520" y="1664208"/>
            <a:ext cx="1234440" cy="0"/>
          </a:xfrm>
          <a:prstGeom prst="line">
            <a:avLst/>
          </a:prstGeom>
          <a:noFill/>
          <a:ln w="9525">
            <a:solidFill>
              <a:srgbClr val="0077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66960" y="1664208"/>
            <a:ext cx="1234440" cy="0"/>
          </a:xfrm>
          <a:prstGeom prst="line">
            <a:avLst/>
          </a:prstGeom>
          <a:noFill/>
          <a:ln w="9525">
            <a:solidFill>
              <a:srgbClr val="0077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2331720"/>
            <a:ext cx="7315200" cy="384048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8640" y="242316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Allocation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2852928"/>
            <a:ext cx="7315200" cy="338328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85292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data collection pipeline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0" y="28529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(Primary)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5040" y="285292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(Review)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" y="319125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extraction &amp; chunking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23360" y="319125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(Primary)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35040" y="319125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(Review)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3529584"/>
            <a:ext cx="7315200" cy="338328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52958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integration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023360" y="35295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(Primary)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35040" y="352958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(Support)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" y="386791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023360" y="386791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(Primary)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35040" y="386791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(Support)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4206240"/>
            <a:ext cx="7315200" cy="338328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20624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baseline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023360" y="420624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(Primary)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035040" y="420624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(Review)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2920" y="454456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generator + rate limiter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023360" y="454456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(Primary)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035040" y="454456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(Review)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65760" y="4882896"/>
            <a:ext cx="7315200" cy="338328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488289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023360" y="488289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(Primary)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035040" y="48828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(Review)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02920" y="522122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023360" y="52212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(Primary)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035040" y="522122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(Review)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" y="5559552"/>
            <a:ext cx="7315200" cy="338328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555955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pairs &amp; experiment runner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023360" y="55595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(Equal)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035040" y="55595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955280" y="2331720"/>
            <a:ext cx="4206240" cy="384048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8138160" y="2423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Contributions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8138160" y="3017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Srikant Reddy Nandireddy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8138160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700773949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138160" y="367588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3600" dirty="0"/>
          </a:p>
        </p:txBody>
      </p:sp>
      <p:sp>
        <p:nvSpPr>
          <p:cNvPr id="73" name="Text 71"/>
          <p:cNvSpPr/>
          <p:nvPr/>
        </p:nvSpPr>
        <p:spPr>
          <a:xfrm>
            <a:off x="8138160" y="4389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Harshit Naidu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8138160" y="4736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700776786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138160" y="504748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Bibliography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Brown et al. (2020). Language models are few-shot learners. NeurIPS 33.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67128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Gao et al. (2023). RAG for Large Language Models: A Survey. arXiv:2312.10997.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008376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Izacard &amp; Grave (2021). Leveraging Passage Retrieval with Generative Models. EACL.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9624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Karpukhin et al. (2020). Dense Passage Retrieval for Open-Domain QA. EMNLP.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9087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Lewis et al. (2020). Retrieval-Augmented Generation for Knowledge-Intensive NLP. NeurIPS.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3258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Reimers &amp; Gurevych (2019). Sentence-BERT. EMNLP 2019.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167128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Robertson &amp; Zaragoza (2009). The Probabilistic Relevance Framework: BM25. Foundations &amp; Trends IR.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3008376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Santhanam et al. (2022). ColBERTv2. NAACL 2022.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3849624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Shi et al. (2023). REPLUG. EMNLP 2023.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469087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Xiao et al. (2023). C-Pack: BGE embedding resources. arXiv:2309.07597.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github.com/GodVilan/arXiv-rag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3383280"/>
            <a:ext cx="228600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3474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37160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MRR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0" y="3383280"/>
            <a:ext cx="228600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0" y="3474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7.7×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93192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BM25 AR Gap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0" y="3383280"/>
            <a:ext cx="228600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3474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8ms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9224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Latency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52560" y="3383280"/>
            <a:ext cx="228600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52560" y="3474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0.99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05256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Faithfulness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84632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Reddy Nandireddy  ·  Harshit Naidu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516636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CS5720 Neural Networks and Deep Learning  ·  University of Central Missouri  · 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Empirical Evaluation of Embedding Models in RAG</dc:title>
  <dc:subject>PptxGenJS Presentation</dc:subject>
  <dc:creator>Srikant Reddy Nandireddy &amp; Harshit Naidu</dc:creator>
  <cp:lastModifiedBy>Srikant Reddy Nandireddy &amp; Harshit Naidu</cp:lastModifiedBy>
  <cp:revision>1</cp:revision>
  <dcterms:created xsi:type="dcterms:W3CDTF">2026-04-21T02:45:25Z</dcterms:created>
  <dcterms:modified xsi:type="dcterms:W3CDTF">2026-04-21T02:45:25Z</dcterms:modified>
</cp:coreProperties>
</file>