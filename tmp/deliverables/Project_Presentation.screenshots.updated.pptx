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ns0:sld xmlns:a="http://schemas.openxmlformats.org/drawingml/2006/main" xmlns:ns0="http://schemas.openxmlformats.org/presentationml/2006/main">
  <ns0:cSld name="Slide 1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6784848"/>
            <a:ext cx="12188952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457200" y="365760"/>
            <a:ext cx="11274552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CS5720  ·  Neural Networks &amp; Deep Learning</a:t>
            </a:r>
            <a:endParaRPr lang="en-US" sz="13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914400" y="1005840"/>
            <a:ext cx="10360152" cy="20116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Empirical Evaluation of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Models in RAG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Domain-Specific QA</a:t>
            </a:r>
            <a:endParaRPr lang="en-US" sz="4400" dirty="0"/>
          </a:p>
        </ns0:txBody>
      </ns0:sp>
      <ns0:sp>
        <ns0:nvSpPr>
          <ns0:cNvPr id="6" name="Text 4"/>
          <ns0:cNvSpPr/>
          <ns0:nvPr/>
        </ns0:nvSpPr>
        <ns0:spPr>
          <a:xfrm>
            <a:off x="914400" y="3108960"/>
            <a:ext cx="10360152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arXiv-rag — Complete Implementation Results</a:t>
            </a:r>
            <a:endParaRPr lang="en-US" sz="1600" dirty="0"/>
          </a:p>
        </ns0:txBody>
      </ns0:sp>
      <ns0:sp>
        <ns0:nvSpPr>
          <ns0:cNvPr id="7" name="Shape 5"/>
          <ns0:cNvSpPr/>
          <ns0:nvPr/>
        </ns0:nvSpPr>
        <ns0:spPr>
          <a:xfrm>
            <a:off x="91440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8" name="Text 6"/>
          <ns0:cNvSpPr/>
          <ns0:nvPr/>
        </ns0:nvSpPr>
        <ns0:spPr>
          <a:xfrm>
            <a:off x="914400" y="3931920"/>
            <a:ext cx="219456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40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914400" y="4572000"/>
            <a:ext cx="21945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</a:t>
            </a:r>
            <a:endParaRPr lang="en-US" sz="100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338328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1" name="Text 9"/>
          <ns0:cNvSpPr/>
          <ns0:nvPr/>
        </ns0:nvSpPr>
        <ns0:spPr>
          <a:xfrm>
            <a:off x="3383280" y="3931920"/>
            <a:ext cx="219456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3383280" y="4572000"/>
            <a:ext cx="21945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00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585216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4" name="Text 12"/>
          <ns0:cNvSpPr/>
          <ns0:nvPr/>
        </ns0:nvSpPr>
        <ns0:spPr>
          <a:xfrm>
            <a:off x="5852160" y="3931920"/>
            <a:ext cx="219456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40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5852160" y="4572000"/>
            <a:ext cx="21945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Pairs</a:t>
            </a:r>
            <a:endParaRPr lang="en-US" sz="10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8321040" y="3840480"/>
            <a:ext cx="219456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7" name="Text 15"/>
          <ns0:cNvSpPr/>
          <ns0:nvPr/>
        </ns0:nvSpPr>
        <ns0:spPr>
          <a:xfrm>
            <a:off x="8321040" y="3931920"/>
            <a:ext cx="219456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40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8321040" y="4572000"/>
            <a:ext cx="219456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457200" y="6172200"/>
            <a:ext cx="11274552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Reddy Nandireddy (700773949)  ·  Harshit Naidu (700776786)</a:t>
            </a:r>
            <a:endParaRPr lang="en-US" sz="11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457200" y="6446520"/>
            <a:ext cx="11274552" cy="2286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Central Missouri  ·  Dr. Muhammad Zubair Khan  ·  April 2026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Dense Retrieval Matters in RAG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566160" cy="41148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Hallucination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generate plausible but factually incorrect responses when queries require domain knowledge not in training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3566160" cy="41148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70832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370832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Bottleneck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6974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 is only as good as retrieval. A weak retriever returns irrelevant passages — the generator cannot compensate.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84464" y="1371600"/>
            <a:ext cx="3566160" cy="41148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84464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❓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84464" y="2194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vs Dense?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7344" y="269748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semantic embedding offer a real advantage over classical term-frequency retrieval for ML research papers?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669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5669280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different transformer embedding models affect RAG performance for ML research question answering?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ns0:sld xmlns:a="http://schemas.openxmlformats.org/drawingml/2006/main" xmlns:ns0="http://schemas.openxmlformats.org/presentationml/2006/main">
  <ns0:cSld name="Slide 3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ARCHITECTURE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RAG Pipeline</a:t>
            </a:r>
            <a:endParaRPr lang="en-US" sz="32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27432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77B6"/>
            </a:solidFill>
            <a:prstDash val="solid"/>
          </a:ln>
        </ns0:spPr>
      </ns0:sp>
      <ns0:sp>
        <ns0:nvSpPr>
          <ns0:cNvPr id="6" name="Text 4"/>
          <ns0:cNvSpPr/>
          <ns0:nvPr/>
        </ns0:nvSpPr>
        <ns0:spPr>
          <a:xfrm>
            <a:off x="27432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arXiv API</a:t>
            </a:r>
            <a:endParaRPr lang="en-US" sz="12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27432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papers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cs.LG</a:t>
            </a:r>
            <a:endParaRPr lang="en-US" sz="9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182880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9" name="Shape 7"/>
          <ns0:cNvSpPr/>
          <ns0:nvPr/>
        </ns0:nvSpPr>
        <ns0:spPr>
          <a:xfrm>
            <a:off x="192024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77B6"/>
            </a:solidFill>
            <a:prstDash val="solid"/>
          </a:ln>
        </ns0:spPr>
      </ns0:sp>
      <ns0:sp>
        <ns0:nvSpPr>
          <ns0:cNvPr id="10" name="Text 8"/>
          <ns0:cNvSpPr/>
          <ns0:nvPr/>
        </ns0:nvSpPr>
        <ns0:spPr>
          <a:xfrm>
            <a:off x="192024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PyMuPDF</a:t>
            </a:r>
            <a:endParaRPr lang="en-US" sz="12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192024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9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347472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13" name="Shape 11"/>
          <ns0:cNvSpPr/>
          <ns0:nvPr/>
        </ns0:nvSpPr>
        <ns0:spPr>
          <a:xfrm>
            <a:off x="356616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B4D8"/>
            </a:solidFill>
            <a:prstDash val="solid"/>
          </a:ln>
        </ns0:spPr>
      </ns0:sp>
      <ns0:sp>
        <ns0:nvSpPr>
          <ns0:cNvPr id="14" name="Text 12"/>
          <ns0:cNvSpPr/>
          <ns0:nvPr/>
        </ns0:nvSpPr>
        <ns0:spPr>
          <a:xfrm>
            <a:off x="356616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Chunker</a:t>
            </a:r>
            <a:endParaRPr lang="en-US" sz="1200" dirty="0"/>
          </a:p>
        </ns0:txBody>
      </ns0:sp>
      <ns0:sp>
        <ns0:nvSpPr>
          <ns0:cNvPr id="15" name="Text 13"/>
          <ns0:cNvSpPr/>
          <ns0:nvPr/>
        </ns0:nvSpPr>
        <ns0:spPr>
          <a:xfrm>
            <a:off x="356616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256/512/1024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00" dirty="0"/>
          </a:p>
        </ns0:txBody>
      </ns0:sp>
      <ns0:sp>
        <ns0:nvSpPr>
          <ns0:cNvPr id="16" name="Shape 14"/>
          <ns0:cNvSpPr/>
          <ns0:nvPr/>
        </ns0:nvSpPr>
        <ns0:spPr>
          <a:xfrm>
            <a:off x="512064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17" name="Shape 15"/>
          <ns0:cNvSpPr/>
          <ns0:nvPr/>
        </ns0:nvSpPr>
        <ns0:spPr>
          <a:xfrm>
            <a:off x="521208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0B4D8"/>
            </a:solidFill>
            <a:prstDash val="solid"/>
          </a:ln>
        </ns0:spPr>
      </ns0:sp>
      <ns0:sp>
        <ns0:nvSpPr>
          <ns0:cNvPr id="18" name="Text 16"/>
          <ns0:cNvSpPr/>
          <ns0:nvPr/>
        </ns0:nvSpPr>
        <ns0:spPr>
          <a:xfrm>
            <a:off x="521208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Embeddings</a:t>
            </a:r>
            <a:endParaRPr lang="en-US" sz="12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521208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MiniLM/MPNet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+ BM25</a:t>
            </a:r>
            <a:endParaRPr lang="en-US" sz="90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676656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21" name="Shape 19"/>
          <ns0:cNvSpPr/>
          <ns0:nvPr/>
        </ns0:nvSpPr>
        <ns0:spPr>
          <a:xfrm>
            <a:off x="685800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6D6A0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685800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FAISS Index</a:t>
            </a:r>
            <a:endParaRPr lang="en-US" sz="12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685800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cosine</a:t>
            </a:r>
            <a:endParaRPr lang="en-US" sz="900" dirty="0"/>
          </a:p>
        </ns0:txBody>
      </ns0:sp>
      <ns0:sp>
        <ns0:nvSpPr>
          <ns0:cNvPr id="24" name="Shape 22"/>
          <ns0:cNvSpPr/>
          <ns0:nvPr/>
        </ns0:nvSpPr>
        <ns0:spPr>
          <a:xfrm>
            <a:off x="841248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25" name="Shape 23"/>
          <ns0:cNvSpPr/>
          <ns0:nvPr/>
        </ns0:nvSpPr>
        <ns0:spPr>
          <a:xfrm>
            <a:off x="850392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06D6A0"/>
            </a:solidFill>
            <a:prstDash val="solid"/>
          </a:ln>
        </ns0:spPr>
      </ns0:sp>
      <ns0:sp>
        <ns0:nvSpPr>
          <ns0:cNvPr id="26" name="Text 24"/>
          <ns0:cNvSpPr/>
          <ns0:nvPr/>
        </ns0:nvSpPr>
        <ns0:spPr>
          <a:xfrm>
            <a:off x="850392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Retriever</a:t>
            </a:r>
            <a:endParaRPr lang="en-US" sz="12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850392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endParaRPr lang="en-US" sz="900" dirty="0"/>
          </a:p>
        </ns0:txBody>
      </ns0:sp>
      <ns0:sp>
        <ns0:nvSpPr>
          <ns0:cNvPr id="28" name="Shape 26"/>
          <ns0:cNvSpPr/>
          <ns0:nvPr/>
        </ns0:nvSpPr>
        <ns0:spPr>
          <a:xfrm>
            <a:off x="10058400" y="1965960"/>
            <a:ext cx="347472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ns0:spPr>
      </ns0:sp>
      <ns0:sp>
        <ns0:nvSpPr>
          <ns0:cNvPr id="29" name="Shape 27"/>
          <ns0:cNvSpPr/>
          <ns0:nvPr/>
        </ns0:nvSpPr>
        <ns0:spPr>
          <a:xfrm>
            <a:off x="10149840" y="1463040"/>
            <a:ext cx="1554480" cy="1005840"/>
          </a:xfrm>
          <a:prstGeom prst="rect">
            <a:avLst/>
          </a:prstGeom>
          <a:solidFill>
            <a:srgbClr val="122844"/>
          </a:solidFill>
          <a:ln w="19050">
            <a:solidFill>
              <a:srgbClr val="FFB703"/>
            </a:solidFill>
            <a:prstDash val="solid"/>
          </a:ln>
        </ns0:spPr>
      </ns0:sp>
      <ns0:sp>
        <ns0:nvSpPr>
          <ns0:cNvPr id="30" name="Text 28"/>
          <ns0:cNvSpPr/>
          <ns0:nvPr/>
        </ns0:nvSpPr>
        <ns0:spPr>
          <a:xfrm>
            <a:off x="10149840" y="1508760"/>
            <a:ext cx="155448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</a:t>
            </a:r>
            <a:endParaRPr lang="en-US" sz="1200" dirty="0"/>
          </a:p>
        </ns0:txBody>
      </ns0:sp>
      <ns0:sp>
        <ns0:nvSpPr>
          <ns0:cNvPr id="31" name="Text 29"/>
          <ns0:cNvSpPr/>
          <ns0:nvPr/>
        </ns0:nvSpPr>
        <ns0:spPr>
          <a:xfrm>
            <a:off x="10149840" y="1920240"/>
            <a:ext cx="1554480" cy="5029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Flash Lite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90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274320" y="2606040"/>
            <a:ext cx="667512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INDEXING</a:t>
            </a:r>
            <a:endParaRPr lang="en-US" sz="10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8046720" y="2606040"/>
            <a:ext cx="36576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QUERY</a:t>
            </a:r>
            <a:endParaRPr lang="en-US" sz="1000" dirty="0"/>
          </a:p>
        </ns0:txBody>
      </ns0:sp>
      <ns0:sp>
        <ns0:nvSpPr>
          <ns0:cNvPr id="34" name="Shape 32"/>
          <ns0:cNvSpPr/>
          <ns0:nvPr/>
        </ns0:nvSpPr>
        <ns0:spPr>
          <a:xfrm>
            <a:off x="274320" y="2834640"/>
            <a:ext cx="6675120" cy="0"/>
          </a:xfrm>
          <a:prstGeom prst="line">
            <a:avLst/>
          </a:prstGeom>
          <a:noFill/>
          <a:ln w="6350">
            <a:solidFill>
              <a:srgbClr val="0077B6"/>
            </a:solidFill>
            <a:prstDash val="dash"/>
          </a:ln>
        </ns0:spPr>
      </ns0:sp>
      <ns0:sp>
        <ns0:nvSpPr>
          <ns0:cNvPr id="35" name="Shape 33"/>
          <ns0:cNvSpPr/>
          <ns0:nvPr/>
        </ns0:nvSpPr>
        <ns0:spPr>
          <a:xfrm>
            <a:off x="8046720" y="2834640"/>
            <a:ext cx="3657600" cy="0"/>
          </a:xfrm>
          <a:prstGeom prst="line">
            <a:avLst/>
          </a:prstGeom>
          <a:noFill/>
          <a:ln w="6350">
            <a:solidFill>
              <a:srgbClr val="06D6A0"/>
            </a:solidFill>
            <a:prstDash val="dash"/>
          </a:ln>
        </ns0:spPr>
      </ns0:sp>
      <ns0:sp>
        <ns0:nvSpPr>
          <ns0:cNvPr id="36" name="Text 34"/>
          <ns0:cNvSpPr/>
          <ns0:nvPr/>
        </ns0:nvSpPr>
        <ns0:spPr>
          <a:xfrm>
            <a:off x="457200" y="3108960"/>
            <a:ext cx="4572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Structure  (rag/)</a:t>
            </a:r>
            <a:endParaRPr lang="en-US" sz="1300" dirty="0"/>
          </a:p>
        </ns0:txBody>
      </ns0:sp>
      <ns0:sp>
        <ns0:nvSpPr>
          <ns0:cNvPr id="37" name="Text 35"/>
          <ns0:cNvSpPr/>
          <ns0:nvPr/>
        </ns0:nvSpPr>
        <ns0:spPr>
          <a:xfrm>
            <a:off x="457200" y="352044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rag/data/collector.py  —  arXiv downloader</a:t>
            </a:r>
            <a:endParaRPr lang="en-US" sz="1100" dirty="0"/>
          </a:p>
        </ns0:txBody>
      </ns0:sp>
      <ns0:sp>
        <ns0:nvSpPr>
          <ns0:cNvPr id="38" name="Text 36"/>
          <ns0:cNvSpPr/>
          <ns0:nvPr/>
        </ns0:nvSpPr>
        <ns0:spPr>
          <a:xfrm>
            <a:off x="457200" y="393192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rag/processing/chunker.py  —  PDF extraction + recursive chunking</a:t>
            </a:r>
            <a:endParaRPr lang="en-US" sz="1100" dirty="0"/>
          </a:p>
        </ns0:txBody>
      </ns0:sp>
      <ns0:sp>
        <ns0:nvSpPr>
          <ns0:cNvPr id="39" name="Text 37"/>
          <ns0:cNvSpPr/>
          <ns0:nvPr/>
        </ns0:nvSpPr>
        <ns0:spPr>
          <a:xfrm>
            <a:off x="457200" y="434340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rag/retrieval/dense.py  —  FAISS dense retriever</a:t>
            </a:r>
            <a:endParaRPr lang="en-US" sz="1100" dirty="0"/>
          </a:p>
        </ns0:txBody>
      </ns0:sp>
      <ns0:sp>
        <ns0:nvSpPr>
          <ns0:cNvPr id="40" name="Text 38"/>
          <ns0:cNvSpPr/>
          <ns0:nvPr/>
        </ns0:nvSpPr>
        <ns0:spPr>
          <a:xfrm>
            <a:off x="457200" y="475488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rag/retrieval/bm25.py  —  BM25 sparse baseline</a:t>
            </a:r>
            <a:endParaRPr lang="en-US" sz="1100" dirty="0"/>
          </a:p>
        </ns0:txBody>
      </ns0:sp>
      <ns0:sp>
        <ns0:nvSpPr>
          <ns0:cNvPr id="41" name="Text 39"/>
          <ns0:cNvSpPr/>
          <ns0:nvPr/>
        </ns0:nvSpPr>
        <ns0:spPr>
          <a:xfrm>
            <a:off x="457200" y="516636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rag/generation/generator.py  —  Gemini + rate limiter</a:t>
            </a:r>
            <a:endParaRPr lang="en-US" sz="1100" dirty="0"/>
          </a:p>
        </ns0:txBody>
      </ns0:sp>
      <ns0:sp>
        <ns0:nvSpPr>
          <ns0:cNvPr id="42" name="Text 40"/>
          <ns0:cNvSpPr/>
          <ns0:nvPr/>
        </ns0:nvSpPr>
        <ns0:spPr>
          <a:xfrm>
            <a:off x="457200" y="5577840"/>
            <a:ext cx="594360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rag/evaluation/metrics.py  —  Recall@K, Precision@K, MRR@K, AR, Faithfulness</a:t>
            </a:r>
            <a:endParaRPr lang="en-US" sz="1100" dirty="0"/>
          </a:p>
        </ns0:txBody>
      </ns0:sp>
      <ns0:sp>
        <ns0:nvSpPr>
          <ns0:cNvPr id="43" name="Shape 41"/>
          <ns0:cNvSpPr/>
          <ns0:nvPr/>
        </ns0:nvSpPr>
        <ns0:spPr>
          <a:xfrm>
            <a:off x="6675120" y="3108960"/>
            <a:ext cx="5212080" cy="347472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44" name="Text 42"/>
          <ns0:cNvSpPr/>
          <ns0:nvPr/>
        </ns0:nvSpPr>
        <ns0:spPr>
          <a:xfrm>
            <a:off x="6858000" y="3200400"/>
            <a:ext cx="4846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300" dirty="0"/>
          </a:p>
        </ns0:txBody>
      </ns0:sp>
      <ns0:sp>
        <ns0:nvSpPr>
          <ns0:cNvPr id="45" name="Text 43"/>
          <ns0:cNvSpPr/>
          <ns0:nvPr/>
        </ns0:nvSpPr>
        <ns0:spPr>
          <a:xfrm>
            <a:off x="6858000" y="3611880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Extraction:</a:t>
            </a:r>
            <a:endParaRPr lang="en-US" sz="1100" dirty="0"/>
          </a:p>
        </ns0:txBody>
      </ns0:sp>
      <ns0:sp>
        <ns0:nvSpPr>
          <ns0:cNvPr id="46" name="Text 44"/>
          <ns0:cNvSpPr/>
          <ns0:nvPr/>
        </ns0:nvSpPr>
        <ns0:spPr>
          <a:xfrm>
            <a:off x="8823960" y="3611880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1.25.5</a:t>
            </a:r>
            <a:endParaRPr lang="en-US" sz="1100" dirty="0"/>
          </a:p>
        </ns0:txBody>
      </ns0:sp>
      <ns0:sp>
        <ns0:nvSpPr>
          <ns0:cNvPr id="47" name="Text 45"/>
          <ns0:cNvSpPr/>
          <ns0:nvPr/>
        </ns0:nvSpPr>
        <ns0:spPr>
          <a:xfrm>
            <a:off x="6858000" y="3995928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</a:t>
            </a:r>
            <a:endParaRPr lang="en-US" sz="1100" dirty="0"/>
          </a:p>
        </ns0:txBody>
      </ns0:sp>
      <ns0:sp>
        <ns0:nvSpPr>
          <ns0:cNvPr id="48" name="Text 46"/>
          <ns0:cNvSpPr/>
          <ns0:nvPr/>
        </ns0:nvSpPr>
        <ns0:spPr>
          <a:xfrm>
            <a:off x="8823960" y="3995928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3.0</a:t>
            </a:r>
            <a:endParaRPr lang="en-US" sz="1100" dirty="0"/>
          </a:p>
        </ns0:txBody>
      </ns0:sp>
      <ns0:sp>
        <ns0:nvSpPr>
          <ns0:cNvPr id="49" name="Text 47"/>
          <ns0:cNvSpPr/>
          <ns0:nvPr/>
        </ns0:nvSpPr>
        <ns0:spPr>
          <a:xfrm>
            <a:off x="6858000" y="4379976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Index:</a:t>
            </a:r>
            <a:endParaRPr lang="en-US" sz="1100" dirty="0"/>
          </a:p>
        </ns0:txBody>
      </ns0:sp>
      <ns0:sp>
        <ns0:nvSpPr>
          <ns0:cNvPr id="50" name="Text 48"/>
          <ns0:cNvSpPr/>
          <ns0:nvPr/>
        </ns0:nvSpPr>
        <ns0:spPr>
          <a:xfrm>
            <a:off x="8823960" y="4379976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IndexFlatIP</a:t>
            </a:r>
            <a:endParaRPr lang="en-US" sz="1100" dirty="0"/>
          </a:p>
        </ns0:txBody>
      </ns0:sp>
      <ns0:sp>
        <ns0:nvSpPr>
          <ns0:cNvPr id="51" name="Text 49"/>
          <ns0:cNvSpPr/>
          <ns0:nvPr/>
        </ns0:nvSpPr>
        <ns0:spPr>
          <a:xfrm>
            <a:off x="6858000" y="4764024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Baseline:</a:t>
            </a:r>
            <a:endParaRPr lang="en-US" sz="1100" dirty="0"/>
          </a:p>
        </ns0:txBody>
      </ns0:sp>
      <ns0:sp>
        <ns0:nvSpPr>
          <ns0:cNvPr id="52" name="Text 50"/>
          <ns0:cNvSpPr/>
          <ns0:nvPr/>
        </ns0:nvSpPr>
        <ns0:spPr>
          <a:xfrm>
            <a:off x="8823960" y="4764024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(Okapi BM25)</a:t>
            </a:r>
            <a:endParaRPr lang="en-US" sz="1100" dirty="0"/>
          </a:p>
        </ns0:txBody>
      </ns0:sp>
      <ns0:sp>
        <ns0:nvSpPr>
          <ns0:cNvPr id="53" name="Text 51"/>
          <ns0:cNvSpPr/>
          <ns0:nvPr/>
        </ns0:nvSpPr>
        <ns0:spPr>
          <a:xfrm>
            <a:off x="6858000" y="5148072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</a:t>
            </a:r>
            <a:endParaRPr lang="en-US" sz="1100" dirty="0"/>
          </a:p>
        </ns0:txBody>
      </ns0:sp>
      <ns0:sp>
        <ns0:nvSpPr>
          <ns0:cNvPr id="54" name="Text 52"/>
          <ns0:cNvSpPr/>
          <ns0:nvPr/>
        </ns0:nvSpPr>
        <ns0:spPr>
          <a:xfrm>
            <a:off x="8823960" y="5148072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Lite</a:t>
            </a:r>
            <a:endParaRPr lang="en-US" sz="1100" dirty="0"/>
          </a:p>
        </ns0:txBody>
      </ns0:sp>
      <ns0:sp>
        <ns0:nvSpPr>
          <ns0:cNvPr id="55" name="Text 53"/>
          <ns0:cNvSpPr/>
          <ns0:nvPr/>
        </ns0:nvSpPr>
        <ns0:spPr>
          <a:xfrm>
            <a:off x="6858000" y="5532120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</a:t>
            </a:r>
            <a:endParaRPr lang="en-US" sz="1100" dirty="0"/>
          </a:p>
        </ns0:txBody>
      </ns0:sp>
      <ns0:sp>
        <ns0:nvSpPr>
          <ns0:cNvPr id="56" name="Text 54"/>
          <ns0:cNvSpPr/>
          <ns0:nvPr/>
        </ns0:nvSpPr>
        <ns0:spPr>
          <a:xfrm>
            <a:off x="8823960" y="5532120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ns0:txBody>
      </ns0:sp>
      <ns0:sp>
        <ns0:nvSpPr>
          <ns0:cNvPr id="57" name="Text 55"/>
          <ns0:cNvSpPr/>
          <ns0:nvPr/>
        </ns0:nvSpPr>
        <ns0:spPr>
          <a:xfrm>
            <a:off x="6858000" y="5916168"/>
            <a:ext cx="20116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Acceleration:</a:t>
            </a:r>
            <a:endParaRPr lang="en-US" sz="1100" dirty="0"/>
          </a:p>
        </ns0:txBody>
      </ns0:sp>
      <ns0:sp>
        <ns0:nvSpPr>
          <ns0:cNvPr id="58" name="Text 56"/>
          <ns0:cNvSpPr/>
          <ns0:nvPr/>
        </ns0:nvSpPr>
        <ns0:spPr>
          <a:xfrm>
            <a:off x="8823960" y="5916168"/>
            <a:ext cx="283464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MPS / CUDA / CPU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4.xml><?xml version="1.0" encoding="utf-8"?>
<ns0:sld xmlns:a="http://schemas.openxmlformats.org/drawingml/2006/main" xmlns:ns0="http://schemas.openxmlformats.org/presentationml/2006/main">
  <ns0:cSld name="Slide 4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MODELS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and Embedding Models Under Evaluation</a:t>
            </a:r>
            <a:endParaRPr lang="en-US" sz="32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36576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365760" y="1463040"/>
            <a:ext cx="24688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150</a:t>
            </a:r>
            <a:endParaRPr lang="en-US" sz="40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365760" y="2103120"/>
            <a:ext cx="24688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cs.LG</a:t>
            </a:r>
            <a:endParaRPr lang="en-US" sz="1000" dirty="0"/>
          </a:p>
        </ns0:txBody>
      </ns0:sp>
      <ns0:sp>
        <ns0:nvSpPr>
          <ns0:cNvPr id="8" name="Shape 6"/>
          <ns0:cNvSpPr/>
          <ns0:nvPr/>
        </ns0:nvSpPr>
        <ns0:spPr>
          <a:xfrm>
            <a:off x="320040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9" name="Text 7"/>
          <ns0:cNvSpPr/>
          <ns0:nvPr/>
        </ns0:nvSpPr>
        <ns0:spPr>
          <a:xfrm>
            <a:off x="3200400" y="1463040"/>
            <a:ext cx="24688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10,260</a:t>
            </a:r>
            <a:endParaRPr lang="en-US" sz="40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3200400" y="2103120"/>
            <a:ext cx="24688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(256 tokens)</a:t>
            </a:r>
            <a:endParaRPr lang="en-US" sz="1000" dirty="0"/>
          </a:p>
        </ns0:txBody>
      </ns0:sp>
      <ns0:sp>
        <ns0:nvSpPr>
          <ns0:cNvPr id="11" name="Shape 9"/>
          <ns0:cNvSpPr/>
          <ns0:nvPr/>
        </ns0:nvSpPr>
        <ns0:spPr>
          <a:xfrm>
            <a:off x="603504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2" name="Text 10"/>
          <ns0:cNvSpPr/>
          <ns0:nvPr/>
        </ns0:nvSpPr>
        <ns0:spPr>
          <a:xfrm>
            <a:off x="6035040" y="1463040"/>
            <a:ext cx="24688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5,106</a:t>
            </a:r>
            <a:endParaRPr lang="en-US" sz="40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6035040" y="2103120"/>
            <a:ext cx="24688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Chunks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(512 tokens)</a:t>
            </a:r>
            <a:endParaRPr lang="en-US" sz="1000" dirty="0"/>
          </a:p>
        </ns0:txBody>
      </ns0:sp>
      <ns0:sp>
        <ns0:nvSpPr>
          <ns0:cNvPr id="14" name="Shape 12"/>
          <ns0:cNvSpPr/>
          <ns0:nvPr/>
        </ns0:nvSpPr>
        <ns0:spPr>
          <a:xfrm>
            <a:off x="8869680" y="1371600"/>
            <a:ext cx="246888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5" name="Text 13"/>
          <ns0:cNvSpPr/>
          <ns0:nvPr/>
        </ns0:nvSpPr>
        <ns0:spPr>
          <a:xfrm>
            <a:off x="8869680" y="1463040"/>
            <a:ext cx="246888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</a:t>
            </a:r>
            <a:endParaRPr lang="en-US" sz="40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8869680" y="2103120"/>
            <a:ext cx="246888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QA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</a:t>
            </a:r>
            <a:endParaRPr lang="en-US" sz="100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365760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365760" y="2743200"/>
            <a:ext cx="274320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365760" y="2743200"/>
            <a:ext cx="27432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1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365760" y="3246120"/>
            <a:ext cx="2743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</a:t>
            </a:r>
            <a:endParaRPr lang="en-US" sz="22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365760" y="374904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365760" y="4160520"/>
            <a:ext cx="27432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6   Dim: 384d   Params: 22M</a:t>
            </a:r>
            <a:endParaRPr lang="en-US" sz="1000" dirty="0"/>
          </a:p>
        </ns0:txBody>
      </ns0:sp>
      <ns0:sp>
        <ns0:nvSpPr>
          <ns0:cNvPr id="23" name="Shape 21"/>
          <ns0:cNvSpPr/>
          <ns0:nvPr/>
        </ns0:nvSpPr>
        <ns0:spPr>
          <a:xfrm>
            <a:off x="3310128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4" name="Shape 22"/>
          <ns0:cNvSpPr/>
          <ns0:nvPr/>
        </ns0:nvSpPr>
        <ns0:spPr>
          <a:xfrm>
            <a:off x="3310128" y="2743200"/>
            <a:ext cx="274320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25" name="Text 23"/>
          <ns0:cNvSpPr/>
          <ns0:nvPr/>
        </ns0:nvSpPr>
        <ns0:spPr>
          <a:xfrm>
            <a:off x="3310128" y="2743200"/>
            <a:ext cx="27432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3310128" y="3246120"/>
            <a:ext cx="2743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MPNet</a:t>
            </a:r>
            <a:endParaRPr lang="en-US" sz="2200" dirty="0"/>
          </a:p>
        </ns0:txBody>
      </ns0:sp>
      <ns0:sp>
        <ns0:nvSpPr>
          <ns0:cNvPr id="27" name="Text 25"/>
          <ns0:cNvSpPr/>
          <ns0:nvPr/>
        </ns0:nvSpPr>
        <ns0:spPr>
          <a:xfrm>
            <a:off x="3310128" y="374904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</a:t>
            </a:r>
            <a:endParaRPr lang="en-US" sz="900" dirty="0"/>
          </a:p>
        </ns0:txBody>
      </ns0:sp>
      <ns0:sp>
        <ns0:nvSpPr>
          <ns0:cNvPr id="28" name="Text 26"/>
          <ns0:cNvSpPr/>
          <ns0:nvPr/>
        </ns0:nvSpPr>
        <ns0:spPr>
          <a:xfrm>
            <a:off x="3310128" y="4160520"/>
            <a:ext cx="27432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12   Dim: 768d   Params: 110M</a:t>
            </a:r>
            <a:endParaRPr lang="en-US" sz="1000" dirty="0"/>
          </a:p>
        </ns0:txBody>
      </ns0:sp>
      <ns0:sp>
        <ns0:nvSpPr>
          <ns0:cNvPr id="29" name="Shape 27"/>
          <ns0:cNvSpPr/>
          <ns0:nvPr/>
        </ns0:nvSpPr>
        <ns0:spPr>
          <a:xfrm>
            <a:off x="6254496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30" name="Shape 28"/>
          <ns0:cNvSpPr/>
          <ns0:nvPr/>
        </ns0:nvSpPr>
        <ns0:spPr>
          <a:xfrm>
            <a:off x="6254496" y="2743200"/>
            <a:ext cx="274320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ns0:spPr>
      </ns0:sp>
      <ns0:sp>
        <ns0:nvSpPr>
          <ns0:cNvPr id="31" name="Text 29"/>
          <ns0:cNvSpPr/>
          <ns0:nvPr/>
        </ns0:nvSpPr>
        <ns0:spPr>
          <a:xfrm>
            <a:off x="6254496" y="2743200"/>
            <a:ext cx="27432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</a:t>
            </a:r>
            <a:endParaRPr lang="en-US" sz="1100" dirty="0"/>
          </a:p>
        </ns0:txBody>
      </ns0:sp>
      <ns0:sp>
        <ns0:nvSpPr>
          <ns0:cNvPr id="32" name="Text 30"/>
          <ns0:cNvSpPr/>
          <ns0:nvPr/>
        </ns0:nvSpPr>
        <ns0:spPr>
          <a:xfrm>
            <a:off x="6254496" y="3246120"/>
            <a:ext cx="2743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</a:t>
            </a:r>
            <a:endParaRPr lang="en-US" sz="22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6254496" y="374904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BAAI/bge-large-en</a:t>
            </a:r>
            <a:endParaRPr lang="en-US" sz="900" dirty="0"/>
          </a:p>
        </ns0:txBody>
      </ns0:sp>
      <ns0:sp>
        <ns0:nvSpPr>
          <ns0:cNvPr id="34" name="Text 32"/>
          <ns0:cNvSpPr/>
          <ns0:nvPr/>
        </ns0:nvSpPr>
        <ns0:spPr>
          <a:xfrm>
            <a:off x="6254496" y="4160520"/>
            <a:ext cx="27432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24   Dim: 1024d   Params: 335M</a:t>
            </a:r>
            <a:endParaRPr lang="en-US" sz="1000" dirty="0"/>
          </a:p>
        </ns0:txBody>
      </ns0:sp>
      <ns0:sp>
        <ns0:nvSpPr>
          <ns0:cNvPr id="35" name="Shape 33"/>
          <ns0:cNvSpPr/>
          <ns0:nvPr/>
        </ns0:nvSpPr>
        <ns0:spPr>
          <a:xfrm>
            <a:off x="9198864" y="2743200"/>
            <a:ext cx="2743200" cy="3566160"/>
          </a:xfrm>
          <a:prstGeom prst="rect">
            <a:avLst/>
          </a:prstGeom>
          <a:solidFill>
            <a:srgbClr val="122844"/>
          </a:solidFill>
          <a:ln w="9525">
            <a:solidFill>
              <a:srgbClr val="8ECA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36" name="Shape 34"/>
          <ns0:cNvSpPr/>
          <ns0:nvPr/>
        </ns0:nvSpPr>
        <ns0:spPr>
          <a:xfrm>
            <a:off x="9198864" y="2743200"/>
            <a:ext cx="2743200" cy="411480"/>
          </a:xfrm>
          <a:prstGeom prst="rect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ns0:spPr>
      </ns0:sp>
      <ns0:sp>
        <ns0:nvSpPr>
          <ns0:cNvPr id="37" name="Text 35"/>
          <ns0:cNvSpPr/>
          <ns0:nvPr/>
        </ns0:nvSpPr>
        <ns0:spPr>
          <a:xfrm>
            <a:off x="9198864" y="2743200"/>
            <a:ext cx="27432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ns0:txBody>
      </ns0:sp>
      <ns0:sp>
        <ns0:nvSpPr>
          <ns0:cNvPr id="38" name="Text 36"/>
          <ns0:cNvSpPr/>
          <ns0:nvPr/>
        </ns0:nvSpPr>
        <ns0:spPr>
          <a:xfrm>
            <a:off x="9198864" y="3246120"/>
            <a:ext cx="2743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</a:t>
            </a:r>
            <a:endParaRPr lang="en-US" sz="2200" dirty="0"/>
          </a:p>
        </ns0:txBody>
      </ns0:sp>
      <ns0:sp>
        <ns0:nvSpPr>
          <ns0:cNvPr id="39" name="Text 37"/>
          <ns0:cNvSpPr/>
          <ns0:nvPr/>
        </ns0:nvSpPr>
        <ns0:spPr>
          <a:xfrm>
            <a:off x="9198864" y="374904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Okapi BM25 (rank-bm25)</a:t>
            </a:r>
            <a:endParaRPr lang="en-US" sz="900" dirty="0"/>
          </a:p>
        </ns0:txBody>
      </ns0:sp>
      <ns0:sp>
        <ns0:nvSpPr>
          <ns0:cNvPr id="40" name="Text 38"/>
          <ns0:cNvSpPr/>
          <ns0:nvPr/>
        </ns0:nvSpPr>
        <ns0:spPr>
          <a:xfrm>
            <a:off x="9198864" y="4160520"/>
            <a:ext cx="274320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—   Dim: sparse   Params: —</a:t>
            </a:r>
            <a:endParaRPr lang="en-US" sz="1000" dirty="0"/>
          </a:p>
        </ns0:txBody>
      </ns0:sp>
      <ns0:sp>
        <ns0:nvSpPr>
          <ns0:cNvPr id="41" name="Text 39"/>
          <ns0:cNvSpPr/>
          <ns0:nvPr/>
        </ns0:nvSpPr>
        <ns0:spPr>
          <a:xfrm>
            <a:off x="365760" y="6400800"/>
            <a:ext cx="11457432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sizes tested: 256  ·  512  ·  1024 tokens  (64-token overlap)   |   Top-K tested: 3  ·  5  ·  10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5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5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RETRIEVAL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MRR@5 Performance Across All Configurations</a:t>
            </a:r>
            <a:endParaRPr lang="en-US" sz="3200" dirty="0"/>
          </a:p>
        </ns0:txBody>
      </ns0:sp>
      <ns0:pic>
        <ns0:nvPicPr>
          <ns0:cNvPr id="5" name="Image 0" descr="/home/claude/MRR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365760" y="1280160"/>
            <a:ext cx="7132320" cy="3657600"/>
          </a:xfrm>
          <a:prstGeom prst="rect">
            <a:avLst/>
          </a:prstGeom>
        </ns0:spPr>
      </ns0:pic>
      <ns0:sp>
        <ns0:nvSpPr>
          <ns0:cNvPr id="6" name="Shape 3"/>
          <ns0:cNvSpPr/>
          <ns0:nvPr/>
        </ns0:nvSpPr>
        <ns0:spPr>
          <a:xfrm>
            <a:off x="7772400" y="1280160"/>
            <a:ext cx="4114800" cy="118872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7" name="Text 4"/>
          <ns0:cNvSpPr/>
          <ns0:nvPr/>
        </ns0:nvSpPr>
        <ns0:spPr>
          <a:xfrm>
            <a:off x="7863840" y="1371600"/>
            <a:ext cx="39319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Dense Retrieval Leads at 256 / 512</a:t>
            </a:r>
            <a:endParaRPr lang="en-US" sz="1400" dirty="0"/>
          </a:p>
        </ns0:txBody>
      </ns0:sp>
      <ns0:sp>
        <ns0:nvSpPr>
          <ns0:cNvPr id="8" name="Text 5"/>
          <ns0:cNvSpPr/>
          <ns0:nvPr/>
        </ns0:nvSpPr>
        <ns0:spPr>
          <a:xfrm>
            <a:off x="7863840" y="1737360"/>
            <a:ext cx="393192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BGE: 0.990 at chunk 256 and 512</a:t>
            </a:r>
            <a:endParaRPr lang="en-US" sz="1100" dirty="0"/>
          </a:p>
        </ns0:txBody>
      </ns0:sp>
      <ns0:sp>
        <ns0:nvSpPr>
          <ns0:cNvPr id="9" name="Shape 6"/>
          <ns0:cNvSpPr/>
          <ns0:nvPr/>
        </ns0:nvSpPr>
        <ns0:spPr>
          <a:xfrm>
            <a:off x="7772400" y="2651760"/>
            <a:ext cx="4114800" cy="118872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0" name="Text 7"/>
          <ns0:cNvSpPr/>
          <ns0:nvPr/>
        </ns0:nvSpPr>
        <ns0:spPr>
          <a:xfrm>
            <a:off x="7863840" y="2743200"/>
            <a:ext cx="39319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Remains Competitive</a:t>
            </a:r>
            <a:endParaRPr lang="en-US" sz="1400" dirty="0"/>
          </a:p>
        </ns0:txBody>
      </ns0:sp>
      <ns0:sp>
        <ns0:nvSpPr>
          <ns0:cNvPr id="11" name="Text 8"/>
          <ns0:cNvSpPr/>
          <ns0:nvPr/>
        </ns0:nvSpPr>
        <ns0:spPr>
          <a:xfrm>
            <a:off x="7863840" y="3108960"/>
            <a:ext cx="393192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 range: 0.959 – 0.990</a:t>
            </a:r>
            <a:endParaRPr lang="en-US" sz="1100" dirty="0"/>
          </a:p>
        </ns0:txBody>
      </ns0:sp>
      <ns0:sp>
        <ns0:nvSpPr>
          <ns0:cNvPr id="12" name="Shape 9"/>
          <ns0:cNvSpPr/>
          <ns0:nvPr/>
        </ns0:nvSpPr>
        <ns0:spPr>
          <a:xfrm>
            <a:off x="7772400" y="4023360"/>
            <a:ext cx="4114800" cy="12801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3" name="Text 10"/>
          <ns0:cNvSpPr/>
          <ns0:nvPr/>
        </ns0:nvSpPr>
        <ns0:spPr>
          <a:xfrm>
            <a:off x="7863840" y="4114800"/>
            <a:ext cx="39319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1024 Favors BM25</a:t>
            </a:r>
            <a:endParaRPr lang="en-US" sz="1300" dirty="0"/>
          </a:p>
        </ns0:txBody>
      </ns0:sp>
      <ns0:sp>
        <ns0:nvSpPr>
          <ns0:cNvPr id="14" name="Text 11"/>
          <ns0:cNvSpPr/>
          <ns0:nvPr/>
        </ns0:nvSpPr>
        <ns0:spPr>
          <a:xfrm>
            <a:off x="7863840" y="4480560"/>
            <a:ext cx="393192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(0.990) edges BGE (0.983) at chunk 1024 — sparse retrieval improves with larger chunks</a:t>
            </a:r>
            <a:endParaRPr lang="en-US" sz="1000" dirty="0"/>
          </a:p>
        </ns0:txBody>
      </ns0:sp>
      <ns0:pic>
        <ns0:nvPicPr>
          <ns0:cNvPr id="15" name="Image 1" descr="/home/claude/heatmap_MRR.png">    </ns0:cNvPr>
          <ns0:cNvPicPr>
            <a:picLocks noChangeAspect="1"/>
          </ns0:cNvPicPr>
          <ns0:nvPr/>
        </ns0:nvPicPr>
        <ns0:blipFill>
          <a:blip r:embed="rId2"/>
          <a:stretch>
            <a:fillRect/>
          </a:stretch>
        </ns0:blipFill>
        <ns0:spPr>
          <a:xfrm>
            <a:off x="365760" y="5074920"/>
            <a:ext cx="7132320" cy="1554480"/>
          </a:xfrm>
          <a:prstGeom prst="rect">
            <a:avLst/>
          </a:prstGeom>
        </ns0:spPr>
      </ns0:pic>
      <ns0:sp>
        <ns0:nvSpPr>
          <ns0:cNvPr id="16" name="Text 12"/>
          <ns0:cNvSpPr/>
          <ns0:nvPr/>
        </ns0:nvSpPr>
        <ns0:spPr>
          <a:xfrm>
            <a:off x="365760" y="6583680"/>
            <a:ext cx="11457432" cy="2286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is strongest at 256/512, while BM25 slightly leads at 1024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6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6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PRECISION &amp; RECALL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Precision@5 and Recall@5 Across Chunk Sizes</a:t>
            </a:r>
            <a:endParaRPr lang="en-US" sz="3200" dirty="0"/>
          </a:p>
        </ns0:txBody>
      </ns0:sp>
      <ns0:pic>
        <ns0:nvPicPr>
          <ns0:cNvPr id="5" name="Image 0" descr="/home/claude/Precision_at_5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274320" y="1280160"/>
            <a:ext cx="5669280" cy="2834640"/>
          </a:xfrm>
          <a:prstGeom prst="rect">
            <a:avLst/>
          </a:prstGeom>
        </ns0:spPr>
      </ns0:pic>
      <ns0:pic>
        <ns0:nvPicPr>
          <ns0:cNvPr id="6" name="Image 1" descr="/home/claude/Recall_at_5.png">    </ns0:cNvPr>
          <ns0:cNvPicPr>
            <a:picLocks noChangeAspect="1"/>
          </ns0:cNvPicPr>
          <ns0:nvPr/>
        </ns0:nvPicPr>
        <ns0:blipFill>
          <a:blip r:embed="rId2"/>
          <a:stretch>
            <a:fillRect/>
          </a:stretch>
        </ns0:blipFill>
        <ns0:spPr>
          <a:xfrm>
            <a:off x="6217920" y="1280160"/>
            <a:ext cx="5669280" cy="2834640"/>
          </a:xfrm>
          <a:prstGeom prst="rect">
            <a:avLst/>
          </a:prstGeom>
        </ns0:spPr>
      </ns0:pic>
      <ns0:sp>
        <ns0:nvSpPr>
          <ns0:cNvPr id="7" name="Text 3"/>
          <ns0:cNvSpPr/>
          <ns0:nvPr/>
        </ns0:nvSpPr>
        <ns0:spPr>
          <a:xfrm>
            <a:off x="274320" y="4251960"/>
            <a:ext cx="566928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</a:t>
            </a:r>
            <a:endParaRPr lang="en-US" sz="1100" dirty="0"/>
          </a:p>
        </ns0:txBody>
      </ns0:sp>
      <ns0:sp>
        <ns0:nvSpPr>
          <ns0:cNvPr id="8" name="Text 4"/>
          <ns0:cNvSpPr/>
          <ns0:nvPr/>
        </ns0:nvSpPr>
        <ns0:spPr>
          <a:xfrm>
            <a:off x="6217920" y="4251960"/>
            <a:ext cx="566928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100" dirty="0"/>
          </a:p>
        </ns0:txBody>
      </ns0:sp>
      <ns0:sp>
        <ns0:nvSpPr>
          <ns0:cNvPr id="9" name="Shape 5"/>
          <ns0:cNvSpPr/>
          <ns0:nvPr/>
        </ns0:nvSpPr>
        <ns0:spPr>
          <a:xfrm>
            <a:off x="274320" y="46177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0" name="Text 6"/>
          <ns0:cNvSpPr/>
          <ns0:nvPr/>
        </ns0:nvSpPr>
        <ns0:spPr>
          <a:xfrm>
            <a:off x="411480" y="4663440"/>
            <a:ext cx="53949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falls with chunk size</a:t>
            </a:r>
            <a:endParaRPr lang="en-US" sz="1100" dirty="0"/>
          </a:p>
        </ns0:txBody>
      </ns0:sp>
      <ns0:sp>
        <ns0:nvSpPr>
          <ns0:cNvPr id="11" name="Text 7"/>
          <ns0:cNvSpPr/>
          <ns0:nvPr/>
        </ns0:nvSpPr>
        <ns0:spPr>
          <a:xfrm>
            <a:off x="411480" y="4965192"/>
            <a:ext cx="53949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chunks introduce more mixed content per unit. BGE still maintains the highest Precision@5 at every size.</a:t>
            </a:r>
            <a:endParaRPr lang="en-US" sz="1000" dirty="0"/>
          </a:p>
        </ns0:txBody>
      </ns0:sp>
      <ns0:sp>
        <ns0:nvSpPr>
          <ns0:cNvPr id="12" name="Shape 8"/>
          <ns0:cNvSpPr/>
          <ns0:nvPr/>
        </ns0:nvSpPr>
        <ns0:spPr>
          <a:xfrm>
            <a:off x="6217920" y="46177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3" name="Text 9"/>
          <ns0:cNvSpPr/>
          <ns0:nvPr/>
        </ns0:nvSpPr>
        <ns0:spPr>
          <a:xfrm>
            <a:off x="6355080" y="4663440"/>
            <a:ext cx="53949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grows with chunk size</a:t>
            </a:r>
            <a:endParaRPr lang="en-US" sz="1100" dirty="0"/>
          </a:p>
        </ns0:txBody>
      </ns0:sp>
      <ns0:sp>
        <ns0:nvSpPr>
          <ns0:cNvPr id="14" name="Text 10"/>
          <ns0:cNvSpPr/>
          <ns0:nvPr/>
        </ns0:nvSpPr>
        <ns0:spPr>
          <a:xfrm>
            <a:off x="6355080" y="4965192"/>
            <a:ext cx="53949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rises sharply with chunk size across all models. More content per chunk improves paper-level coverage.</a:t>
            </a:r>
            <a:endParaRPr lang="en-US" sz="1000" dirty="0"/>
          </a:p>
        </ns0:txBody>
      </ns0:sp>
      <ns0:sp>
        <ns0:nvSpPr>
          <ns0:cNvPr id="15" name="Shape 11"/>
          <ns0:cNvSpPr/>
          <ns0:nvPr/>
        </ns0:nvSpPr>
        <ns0:spPr>
          <a:xfrm>
            <a:off x="274320" y="55321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6" name="Text 12"/>
          <ns0:cNvSpPr/>
          <ns0:nvPr/>
        </ns0:nvSpPr>
        <ns0:spPr>
          <a:xfrm>
            <a:off x="411480" y="5577840"/>
            <a:ext cx="53949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 leads precision</a:t>
            </a:r>
            <a:endParaRPr lang="en-US" sz="1100" dirty="0"/>
          </a:p>
        </ns0:txBody>
      </ns0:sp>
      <ns0:sp>
        <ns0:nvSpPr>
          <ns0:cNvPr id="17" name="Text 13"/>
          <ns0:cNvSpPr/>
          <ns0:nvPr/>
        </ns0:nvSpPr>
        <ns0:spPr>
          <a:xfrm>
            <a:off x="411480" y="5879592"/>
            <a:ext cx="53949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Precision@5: 0.970 (256), 0.950 (512), 0.888 (1024). BM25 stays close but consistently lower.</a:t>
            </a:r>
            <a:endParaRPr lang="en-US" sz="1000" dirty="0"/>
          </a:p>
        </ns0:txBody>
      </ns0:sp>
      <ns0:sp>
        <ns0:nvSpPr>
          <ns0:cNvPr id="18" name="Shape 14"/>
          <ns0:cNvSpPr/>
          <ns0:nvPr/>
        </ns0:nvSpPr>
        <ns0:spPr>
          <a:xfrm>
            <a:off x="6217920" y="5532120"/>
            <a:ext cx="5669280" cy="77724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9" name="Text 15"/>
          <ns0:cNvSpPr/>
          <ns0:nvPr/>
        </ns0:nvSpPr>
        <ns0:spPr>
          <a:xfrm>
            <a:off x="6355080" y="5577840"/>
            <a:ext cx="5394960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recall competitive at 1024</a:t>
            </a:r>
            <a:endParaRPr lang="en-US" sz="1100" dirty="0"/>
          </a:p>
        </ns0:txBody>
      </ns0:sp>
      <ns0:sp>
        <ns0:nvSpPr>
          <ns0:cNvPr id="20" name="Text 16"/>
          <ns0:cNvSpPr/>
          <ns0:nvPr/>
        </ns0:nvSpPr>
        <ns0:spPr>
          <a:xfrm>
            <a:off x="6355080" y="5879592"/>
            <a:ext cx="539496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Recall@5 = 0.375 at chunk 1024, showing sparse retrieval catches up strongly at large chunk sizes.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7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7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BM25 vs DENSE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Sparse Baseline vs Best Dense Model — MRR@5</a:t>
            </a:r>
            <a:endParaRPr lang="en-US" sz="3200" dirty="0"/>
          </a:p>
        </ns0:txBody>
      </ns0:sp>
      <ns0:pic>
        <ns0:nvPicPr>
          <ns0:cNvPr id="5" name="Image 0" descr="/home/claude/bm25_vs_dense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457200" y="1280160"/>
            <a:ext cx="6858000" cy="3840480"/>
          </a:xfrm>
          <a:prstGeom prst="rect">
            <a:avLst/>
          </a:prstGeom>
        </ns0:spPr>
      </ns0:pic>
      <ns0:sp>
        <ns0:nvSpPr>
          <ns0:cNvPr id="6" name="Shape 3"/>
          <ns0:cNvSpPr/>
          <ns0:nvPr/>
        </ns0:nvSpPr>
        <ns0:spPr>
          <a:xfrm>
            <a:off x="7589520" y="1280160"/>
            <a:ext cx="4297680" cy="49377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7" name="Text 4"/>
          <ns0:cNvSpPr/>
          <ns0:nvPr/>
        </ns0:nvSpPr>
        <ns0:spPr>
          <a:xfrm>
            <a:off x="7772400" y="1371600"/>
            <a:ext cx="39319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Comparison</a:t>
            </a:r>
            <a:endParaRPr lang="en-US" sz="1400" dirty="0"/>
          </a:p>
        </ns0:txBody>
      </ns0:sp>
      <ns0:sp>
        <ns0:nvSpPr>
          <ns0:cNvPr id="8" name="Shape 5"/>
          <ns0:cNvSpPr/>
          <ns0:nvPr/>
        </ns0:nvSpPr>
        <ns0:spPr>
          <a:xfrm>
            <a:off x="7772400" y="1828800"/>
            <a:ext cx="3931920" cy="10972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9" name="Text 6"/>
          <ns0:cNvSpPr/>
          <ns0:nvPr/>
        </ns0:nvSpPr>
        <ns0:spPr>
          <a:xfrm>
            <a:off x="7863840" y="187452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256</a:t>
            </a:r>
            <a:endParaRPr lang="en-US" sz="1100" dirty="0"/>
          </a:p>
        </ns0:txBody>
      </ns0:sp>
      <ns0:sp>
        <ns0:nvSpPr>
          <ns0:cNvPr id="10" name="Text 7"/>
          <ns0:cNvSpPr/>
          <ns0:nvPr/>
        </ns0:nvSpPr>
        <ns0:spPr>
          <a:xfrm>
            <a:off x="7863840" y="214884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0.959   BGE: 0.990</a:t>
            </a:r>
            <a:endParaRPr lang="en-US" sz="1100" dirty="0"/>
          </a:p>
        </ns0:txBody>
      </ns0:sp>
      <ns0:sp>
        <ns0:nvSpPr>
          <ns0:cNvPr id="11" name="Text 8"/>
          <ns0:cNvSpPr/>
          <ns0:nvPr/>
        </ns0:nvSpPr>
        <ns0:spPr>
          <a:xfrm>
            <a:off x="7863840" y="242316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gain: +3%</a:t>
            </a:r>
            <a:endParaRPr lang="en-US" sz="1100" dirty="0"/>
          </a:p>
        </ns0:txBody>
      </ns0:sp>
      <ns0:sp>
        <ns0:nvSpPr>
          <ns0:cNvPr id="12" name="Shape 9"/>
          <ns0:cNvSpPr/>
          <ns0:nvPr/>
        </ns0:nvSpPr>
        <ns0:spPr>
          <a:xfrm>
            <a:off x="7772400" y="3108960"/>
            <a:ext cx="3931920" cy="10972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3" name="Text 10"/>
          <ns0:cNvSpPr/>
          <ns0:nvPr/>
        </ns0:nvSpPr>
        <ns0:spPr>
          <a:xfrm>
            <a:off x="7863840" y="315468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512</a:t>
            </a:r>
            <a:endParaRPr lang="en-US" sz="1100" dirty="0"/>
          </a:p>
        </ns0:txBody>
      </ns0:sp>
      <ns0:sp>
        <ns0:nvSpPr>
          <ns0:cNvPr id="14" name="Text 11"/>
          <ns0:cNvSpPr/>
          <ns0:nvPr/>
        </ns0:nvSpPr>
        <ns0:spPr>
          <a:xfrm>
            <a:off x="7863840" y="342900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0.978   BGE: 0.990</a:t>
            </a:r>
            <a:endParaRPr lang="en-US" sz="1100" dirty="0"/>
          </a:p>
        </ns0:txBody>
      </ns0:sp>
      <ns0:sp>
        <ns0:nvSpPr>
          <ns0:cNvPr id="15" name="Text 12"/>
          <ns0:cNvSpPr/>
          <ns0:nvPr/>
        </ns0:nvSpPr>
        <ns0:spPr>
          <a:xfrm>
            <a:off x="7863840" y="370332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gain: -1%</a:t>
            </a:r>
            <a:endParaRPr lang="en-US" sz="1100" dirty="0"/>
          </a:p>
        </ns0:txBody>
      </ns0:sp>
      <ns0:sp>
        <ns0:nvSpPr>
          <ns0:cNvPr id="16" name="Shape 13"/>
          <ns0:cNvSpPr/>
          <ns0:nvPr/>
        </ns0:nvSpPr>
        <ns0:spPr>
          <a:xfrm>
            <a:off x="7772400" y="4389120"/>
            <a:ext cx="3931920" cy="109728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7" name="Text 14"/>
          <ns0:cNvSpPr/>
          <ns0:nvPr/>
        </ns0:nvSpPr>
        <ns0:spPr>
          <a:xfrm>
            <a:off x="7863840" y="443484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1024</a:t>
            </a:r>
            <a:endParaRPr lang="en-US" sz="1100" dirty="0"/>
          </a:p>
        </ns0:txBody>
      </ns0:sp>
      <ns0:sp>
        <ns0:nvSpPr>
          <ns0:cNvPr id="18" name="Text 15"/>
          <ns0:cNvSpPr/>
          <ns0:nvPr/>
        </ns0:nvSpPr>
        <ns0:spPr>
          <a:xfrm>
            <a:off x="7863840" y="470916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BM25: 0.990   BGE: 0.983</a:t>
            </a:r>
            <a:endParaRPr lang="en-US" sz="1100" dirty="0"/>
          </a:p>
        </ns0:txBody>
      </ns0:sp>
      <ns0:sp>
        <ns0:nvSpPr>
          <ns0:cNvPr id="19" name="Text 16"/>
          <ns0:cNvSpPr/>
          <ns0:nvPr/>
        </ns0:nvSpPr>
        <ns0:spPr>
          <a:xfrm>
            <a:off x="7863840" y="4983480"/>
            <a:ext cx="374904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gain: -1%</a:t>
            </a:r>
            <a:endParaRPr lang="en-US" sz="1100" dirty="0"/>
          </a:p>
        </ns0:txBody>
      </ns0:sp>
      <ns0:sp>
        <ns0:nvSpPr>
          <ns0:cNvPr id="20" name="Text 17"/>
          <ns0:cNvSpPr/>
          <ns0:nvPr/>
        </ns0:nvSpPr>
        <ns0:spPr>
          <a:xfrm>
            <a:off x="7772400" y="4846320"/>
            <a:ext cx="393192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retrieval leads at 256/512, but BM25 slightly leads at 1024.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narrows sharply at chunk 1024 as term overlap increases.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8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8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GENERATION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 Quality  ·  Chunk Size 512  ·  Top-K 5</a:t>
            </a:r>
            <a:endParaRPr lang="en-US" sz="3200" dirty="0"/>
          </a:p>
        </ns0:txBody>
      </ns0:sp>
      <ns0:pic>
        <ns0:nvPicPr>
          <ns0:cNvPr id="5" name="Image 0" descr="/home/claude/generation_metrics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274320" y="1280160"/>
            <a:ext cx="11640312" cy="3291840"/>
          </a:xfrm>
          <a:prstGeom prst="rect">
            <a:avLst/>
          </a:prstGeom>
        </ns0:spPr>
      </ns0:pic>
      <ns0:sp>
        <ns0:nvSpPr>
          <ns0:cNvPr id="6" name="Shape 3"/>
          <ns0:cNvSpPr/>
          <ns0:nvPr/>
        </ns0:nvSpPr>
        <ns0:spPr>
          <a:xfrm>
            <a:off x="274320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7" name="Shape 4"/>
          <ns0:cNvSpPr/>
          <ns0:nvPr/>
        </ns0:nvSpPr>
        <ns0:spPr>
          <a:xfrm>
            <a:off x="274320" y="4754880"/>
            <a:ext cx="2743200" cy="3200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ns0:spPr>
      </ns0:sp>
      <ns0:sp>
        <ns0:nvSpPr>
          <ns0:cNvPr id="8" name="Text 5"/>
          <ns0:cNvSpPr/>
          <ns0:nvPr/>
        </ns0:nvSpPr>
        <ns0:spPr>
          <a:xfrm>
            <a:off x="274320" y="475488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ns0:txBody>
      </ns0:sp>
      <ns0:sp>
        <ns0:nvSpPr>
          <ns0:cNvPr id="9" name="Text 6"/>
          <ns0:cNvSpPr/>
          <ns0:nvPr/>
        </ns0:nvSpPr>
        <ns0:spPr>
          <a:xfrm>
            <a:off x="365760" y="5120640"/>
            <a:ext cx="2560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7.3× Answer Relevance Gap</a:t>
            </a:r>
            <a:endParaRPr lang="en-US" sz="1100" dirty="0"/>
          </a:p>
        </ns0:txBody>
      </ns0:sp>
      <ns0:sp>
        <ns0:nvSpPr>
          <ns0:cNvPr id="10" name="Text 7"/>
          <ns0:cNvSpPr/>
          <ns0:nvPr/>
        </ns0:nvSpPr>
        <ns0:spPr>
          <a:xfrm>
            <a:off x="365760" y="5468112"/>
            <a:ext cx="2560320" cy="868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BGE: 0.912  vs  BM25: 0.125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retrieval precision ≠ semantic answer quality</a:t>
            </a:r>
            <a:endParaRPr lang="en-US" sz="1000" dirty="0"/>
          </a:p>
        </ns0:txBody>
      </ns0:sp>
      <ns0:sp>
        <ns0:nvSpPr>
          <ns0:cNvPr id="11" name="Shape 8"/>
          <ns0:cNvSpPr/>
          <ns0:nvPr/>
        </ns0:nvSpPr>
        <ns0:spPr>
          <a:xfrm>
            <a:off x="3273552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2" name="Shape 9"/>
          <ns0:cNvSpPr/>
          <ns0:nvPr/>
        </ns0:nvSpPr>
        <ns0:spPr>
          <a:xfrm>
            <a:off x="3273552" y="4754880"/>
            <a:ext cx="2743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13" name="Text 10"/>
          <ns0:cNvSpPr/>
          <ns0:nvPr/>
        </ns0:nvSpPr>
        <ns0:spPr>
          <a:xfrm>
            <a:off x="3273552" y="475488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ns0:txBody>
      </ns0:sp>
      <ns0:sp>
        <ns0:nvSpPr>
          <ns0:cNvPr id="14" name="Text 11"/>
          <ns0:cNvSpPr/>
          <ns0:nvPr/>
        </ns0:nvSpPr>
        <ns0:spPr>
          <a:xfrm>
            <a:off x="3364992" y="5120640"/>
            <a:ext cx="2560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Faithfulness Near-Perfect</a:t>
            </a:r>
            <a:endParaRPr lang="en-US" sz="1100" dirty="0"/>
          </a:p>
        </ns0:txBody>
      </ns0:sp>
      <ns0:sp>
        <ns0:nvSpPr>
          <ns0:cNvPr id="15" name="Text 12"/>
          <ns0:cNvSpPr/>
          <ns0:nvPr/>
        </ns0:nvSpPr>
        <ns0:spPr>
          <a:xfrm>
            <a:off x="3364992" y="5468112"/>
            <a:ext cx="2560320" cy="868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0.986 – 0.997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Gemini generation stays strongly grounded in context</a:t>
            </a:r>
            <a:endParaRPr lang="en-US" sz="1000" dirty="0"/>
          </a:p>
        </ns0:txBody>
      </ns0:sp>
      <ns0:sp>
        <ns0:nvSpPr>
          <ns0:cNvPr id="16" name="Shape 13"/>
          <ns0:cNvSpPr/>
          <ns0:nvPr/>
        </ns0:nvSpPr>
        <ns0:spPr>
          <a:xfrm>
            <a:off x="6272784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7" name="Shape 14"/>
          <ns0:cNvSpPr/>
          <ns0:nvPr/>
        </ns0:nvSpPr>
        <ns0:spPr>
          <a:xfrm>
            <a:off x="6272784" y="4754880"/>
            <a:ext cx="274320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ns0:spPr>
      </ns0:sp>
      <ns0:sp>
        <ns0:nvSpPr>
          <ns0:cNvPr id="18" name="Text 15"/>
          <ns0:cNvSpPr/>
          <ns0:nvPr/>
        </ns0:nvSpPr>
        <ns0:spPr>
          <a:xfrm>
            <a:off x="6272784" y="475488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ns0:txBody>
      </ns0:sp>
      <ns0:sp>
        <ns0:nvSpPr>
          <ns0:cNvPr id="19" name="Text 16"/>
          <ns0:cNvSpPr/>
          <ns0:nvPr/>
        </ns0:nvSpPr>
        <ns0:spPr>
          <a:xfrm>
            <a:off x="6364224" y="5120640"/>
            <a:ext cx="2560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Precision High</a:t>
            </a:r>
            <a:endParaRPr lang="en-US" sz="1100" dirty="0"/>
          </a:p>
        </ns0:txBody>
      </ns0:sp>
      <ns0:sp>
        <ns0:nvSpPr>
          <ns0:cNvPr id="20" name="Text 17"/>
          <ns0:cNvSpPr/>
          <ns0:nvPr/>
        </ns0:nvSpPr>
        <ns0:spPr>
          <a:xfrm>
            <a:off x="6364224" y="5468112"/>
            <a:ext cx="2560320" cy="868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and BM25: 1.000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consistently used in answers</a:t>
            </a:r>
            <a:endParaRPr lang="en-US" sz="1000" dirty="0"/>
          </a:p>
        </ns0:txBody>
      </ns0:sp>
      <ns0:sp>
        <ns0:nvSpPr>
          <ns0:cNvPr id="21" name="Shape 18"/>
          <ns0:cNvSpPr/>
          <ns0:nvPr/>
        </ns0:nvSpPr>
        <ns0:spPr>
          <a:xfrm>
            <a:off x="9272016" y="4754880"/>
            <a:ext cx="2743200" cy="173736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2" name="Shape 19"/>
          <ns0:cNvSpPr/>
          <ns0:nvPr/>
        </ns0:nvSpPr>
        <ns0:spPr>
          <a:xfrm>
            <a:off x="9272016" y="4754880"/>
            <a:ext cx="2743200" cy="3200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ns0:spPr>
      </ns0:sp>
      <ns0:sp>
        <ns0:nvSpPr>
          <ns0:cNvPr id="23" name="Text 20"/>
          <ns0:cNvSpPr/>
          <ns0:nvPr/>
        </ns0:nvSpPr>
        <ns0:spPr>
          <a:xfrm>
            <a:off x="9272016" y="4754880"/>
            <a:ext cx="27432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ns0:txBody>
      </ns0:sp>
      <ns0:sp>
        <ns0:nvSpPr>
          <ns0:cNvPr id="24" name="Text 21"/>
          <ns0:cNvSpPr/>
          <ns0:nvPr/>
        </ns0:nvSpPr>
        <ns0:spPr>
          <a:xfrm>
            <a:off x="9363456" y="5120640"/>
            <a:ext cx="256032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is the Bottleneck</a:t>
            </a:r>
            <a:endParaRPr lang="en-US" sz="1100" dirty="0"/>
          </a:p>
        </ns0:txBody>
      </ns0:sp>
      <ns0:sp>
        <ns0:nvSpPr>
          <ns0:cNvPr id="25" name="Text 22"/>
          <ns0:cNvSpPr/>
          <ns0:nvPr/>
        </ns0:nvSpPr>
        <ns0:spPr>
          <a:xfrm>
            <a:off x="9363456" y="5468112"/>
            <a:ext cx="2560320" cy="86868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still drives semantic answer quality most strongly</a:t>
            </a:r>
            <a:endParaRPr lang="en-US" sz="1000" dirty="0"/>
          </a:p>
        </ns0:txBody>
      </ns0:sp>
    </ns0:spTree>
  </ns0:cSld>
  <ns0:clrMapOvr>
    <a:masterClrMapping/>
  </ns0:clrMapOvr>
</ns0:sld>
</file>

<file path=ppt/slides/slide9.xml><?xml version="1.0" encoding="utf-8"?>
<ns0:sld xmlns:a="http://schemas.openxmlformats.org/drawingml/2006/main" xmlns:ns0="http://schemas.openxmlformats.org/presentationml/2006/main" xmlns:r="http://schemas.openxmlformats.org/officeDocument/2006/relationships">
  <ns0:cSld name="Slide 9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LATENCY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vs Speed Trade-off  ·  Chunk Size 512</a:t>
            </a:r>
            <a:endParaRPr lang="en-US" sz="3200" dirty="0"/>
          </a:p>
        </ns0:txBody>
      </ns0:sp>
      <ns0:pic>
        <ns0:nvPicPr>
          <ns0:cNvPr id="5" name="Image 0" descr="/home/claude/latency.png">    </ns0:cNvPr>
          <ns0:cNvPicPr>
            <a:picLocks noChangeAspect="1"/>
          </ns0:cNvPicPr>
          <ns0:nvPr/>
        </ns0:nvPicPr>
        <ns0:blipFill>
          <a:blip r:embed="rId1"/>
          <a:stretch>
            <a:fillRect/>
          </a:stretch>
        </ns0:blipFill>
        <ns0:spPr>
          <a:xfrm>
            <a:off x="274320" y="1234440"/>
            <a:ext cx="5486400" cy="2834640"/>
          </a:xfrm>
          <a:prstGeom prst="rect">
            <a:avLst/>
          </a:prstGeom>
        </ns0:spPr>
      </ns0:pic>
      <ns0:pic>
        <ns0:nvPicPr>
          <ns0:cNvPr id="6" name="Image 1" descr="/home/claude/latency_vs_mrr.png">    </ns0:cNvPr>
          <ns0:cNvPicPr>
            <a:picLocks noChangeAspect="1"/>
          </ns0:cNvPicPr>
          <ns0:nvPr/>
        </ns0:nvPicPr>
        <ns0:blipFill>
          <a:blip r:embed="rId2"/>
          <a:stretch>
            <a:fillRect/>
          </a:stretch>
        </ns0:blipFill>
        <ns0:spPr>
          <a:xfrm>
            <a:off x="5943600" y="1234440"/>
            <a:ext cx="5943600" cy="2834640"/>
          </a:xfrm>
          <a:prstGeom prst="rect">
            <a:avLst/>
          </a:prstGeom>
        </ns0:spPr>
      </ns0:pic>
      <ns0:sp>
        <ns0:nvSpPr>
          <ns0:cNvPr id="7" name="Text 3"/>
          <ns0:cNvSpPr/>
          <ns0:nvPr/>
        </ns0:nvSpPr>
        <ns0:spPr>
          <a:xfrm>
            <a:off x="274320" y="4160520"/>
            <a:ext cx="5486400" cy="2286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Query</a:t>
            </a:r>
            <a:endParaRPr lang="en-US" sz="1000" dirty="0"/>
          </a:p>
        </ns0:txBody>
      </ns0:sp>
      <ns0:sp>
        <ns0:nvSpPr>
          <ns0:cNvPr id="8" name="Text 4"/>
          <ns0:cNvSpPr/>
          <ns0:nvPr/>
        </ns0:nvSpPr>
        <ns0:spPr>
          <a:xfrm>
            <a:off x="5943600" y="4160520"/>
            <a:ext cx="5943600" cy="2286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Speed Scatter</a:t>
            </a:r>
            <a:endParaRPr lang="en-US" sz="1000" dirty="0"/>
          </a:p>
        </ns0:txBody>
      </ns0:sp>
      <ns0:sp>
        <ns0:nvSpPr>
          <ns0:cNvPr id="9" name="Shape 5"/>
          <ns0:cNvSpPr/>
          <ns0:nvPr/>
        </ns0:nvSpPr>
        <ns0:spPr>
          <a:xfrm>
            <a:off x="274320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0" name="Text 6"/>
          <ns0:cNvSpPr/>
          <ns0:nvPr/>
        </ns0:nvSpPr>
        <ns0:spPr>
          <a:xfrm>
            <a:off x="365760" y="457200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</a:t>
            </a:r>
            <a:endParaRPr lang="en-US" sz="1600" dirty="0"/>
          </a:p>
        </ns0:txBody>
      </ns0:sp>
      <ns0:sp>
        <ns0:nvSpPr>
          <ns0:cNvPr id="11" name="Text 7"/>
          <ns0:cNvSpPr/>
          <ns0:nvPr/>
        </ns0:nvSpPr>
        <ns0:spPr>
          <a:xfrm>
            <a:off x="365760" y="495604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MRR@5: 0.990  ·  Latency: 31ms</a:t>
            </a:r>
            <a:endParaRPr lang="en-US" sz="1000" dirty="0"/>
          </a:p>
        </ns0:txBody>
      </ns0:sp>
      <ns0:sp>
        <ns0:nvSpPr>
          <ns0:cNvPr id="12" name="Text 8"/>
          <ns0:cNvSpPr/>
          <ns0:nvPr/>
        </ns0:nvSpPr>
        <ns0:spPr>
          <a:xfrm>
            <a:off x="365760" y="523036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0.912</a:t>
            </a:r>
            <a:endParaRPr lang="en-US" sz="1000" dirty="0"/>
          </a:p>
        </ns0:txBody>
      </ns0:sp>
      <ns0:sp>
        <ns0:nvSpPr>
          <ns0:cNvPr id="13" name="Text 9"/>
          <ns0:cNvSpPr/>
          <ns0:nvPr/>
        </ns0:nvSpPr>
        <ns0:spPr>
          <a:xfrm>
            <a:off x="365760" y="5504688"/>
            <a:ext cx="2560320" cy="7315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— use when quality is critical</a:t>
            </a:r>
            <a:endParaRPr lang="en-US" sz="950" dirty="0"/>
          </a:p>
        </ns0:txBody>
      </ns0:sp>
      <ns0:sp>
        <ns0:nvSpPr>
          <ns0:cNvPr id="14" name="Shape 10"/>
          <ns0:cNvSpPr/>
          <ns0:nvPr/>
        </ns0:nvSpPr>
        <ns0:spPr>
          <a:xfrm>
            <a:off x="3273552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5" name="Text 11"/>
          <ns0:cNvSpPr/>
          <ns0:nvPr/>
        </ns0:nvSpPr>
        <ns0:spPr>
          <a:xfrm>
            <a:off x="3364992" y="457200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MPNet</a:t>
            </a:r>
            <a:endParaRPr lang="en-US" sz="1600" dirty="0"/>
          </a:p>
        </ns0:txBody>
      </ns0:sp>
      <ns0:sp>
        <ns0:nvSpPr>
          <ns0:cNvPr id="16" name="Text 12"/>
          <ns0:cNvSpPr/>
          <ns0:nvPr/>
        </ns0:nvSpPr>
        <ns0:spPr>
          <a:xfrm>
            <a:off x="3364992" y="495604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MRR@5: 0.917  ·  Latency: 20ms</a:t>
            </a:r>
            <a:endParaRPr lang="en-US" sz="1000" dirty="0"/>
          </a:p>
        </ns0:txBody>
      </ns0:sp>
      <ns0:sp>
        <ns0:nvSpPr>
          <ns0:cNvPr id="17" name="Text 13"/>
          <ns0:cNvSpPr/>
          <ns0:nvPr/>
        </ns0:nvSpPr>
        <ns0:spPr>
          <a:xfrm>
            <a:off x="3364992" y="523036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0.719</a:t>
            </a:r>
            <a:endParaRPr lang="en-US" sz="1000" dirty="0"/>
          </a:p>
        </ns0:txBody>
      </ns0:sp>
      <ns0:sp>
        <ns0:nvSpPr>
          <ns0:cNvPr id="18" name="Text 14"/>
          <ns0:cNvSpPr/>
          <ns0:nvPr/>
        </ns0:nvSpPr>
        <ns0:spPr>
          <a:xfrm>
            <a:off x="3364992" y="5504688"/>
            <a:ext cx="2560320" cy="7315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latency without a clear gain over MiniLM at chunk 512</a:t>
            </a:r>
            <a:endParaRPr lang="en-US" sz="950" dirty="0"/>
          </a:p>
        </ns0:txBody>
      </ns0:sp>
      <ns0:sp>
        <ns0:nvSpPr>
          <ns0:cNvPr id="19" name="Shape 15"/>
          <ns0:cNvSpPr/>
          <ns0:nvPr/>
        </ns0:nvSpPr>
        <ns0:spPr>
          <a:xfrm>
            <a:off x="6272784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0" name="Text 16"/>
          <ns0:cNvSpPr/>
          <ns0:nvPr/>
        </ns0:nvSpPr>
        <ns0:spPr>
          <a:xfrm>
            <a:off x="6364224" y="457200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</a:t>
            </a:r>
            <a:endParaRPr lang="en-US" sz="1600" dirty="0"/>
          </a:p>
        </ns0:txBody>
      </ns0:sp>
      <ns0:sp>
        <ns0:nvSpPr>
          <ns0:cNvPr id="21" name="Text 17"/>
          <ns0:cNvSpPr/>
          <ns0:nvPr/>
        </ns0:nvSpPr>
        <ns0:spPr>
          <a:xfrm>
            <a:off x="6364224" y="495604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MRR@5: 0.975  ·  Latency: 7ms</a:t>
            </a:r>
            <a:endParaRPr lang="en-US" sz="1000" dirty="0"/>
          </a:p>
        </ns0:txBody>
      </ns0:sp>
      <ns0:sp>
        <ns0:nvSpPr>
          <ns0:cNvPr id="22" name="Text 18"/>
          <ns0:cNvSpPr/>
          <ns0:nvPr/>
        </ns0:nvSpPr>
        <ns0:spPr>
          <a:xfrm>
            <a:off x="6364224" y="523036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0.728</a:t>
            </a:r>
            <a:endParaRPr lang="en-US" sz="1000" dirty="0"/>
          </a:p>
        </ns0:txBody>
      </ns0:sp>
      <ns0:sp>
        <ns0:nvSpPr>
          <ns0:cNvPr id="23" name="Text 19"/>
          <ns0:cNvSpPr/>
          <ns0:nvPr/>
        </ns0:nvSpPr>
        <ns0:spPr>
          <a:xfrm>
            <a:off x="6364224" y="5504688"/>
            <a:ext cx="2560320" cy="7315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Best speed-accuracy — production default</a:t>
            </a:r>
            <a:endParaRPr lang="en-US" sz="950" dirty="0"/>
          </a:p>
        </ns0:txBody>
      </ns0:sp>
      <ns0:sp>
        <ns0:nvSpPr>
          <ns0:cNvPr id="24" name="Shape 20"/>
          <ns0:cNvSpPr/>
          <ns0:nvPr/>
        </ns0:nvSpPr>
        <ns0:spPr>
          <a:xfrm>
            <a:off x="9272016" y="4526280"/>
            <a:ext cx="2743200" cy="1920240"/>
          </a:xfrm>
          <a:prstGeom prst="rect">
            <a:avLst/>
          </a:prstGeom>
          <a:solidFill>
            <a:srgbClr val="122844"/>
          </a:solidFill>
          <a:ln w="9525">
            <a:solidFill>
              <a:srgbClr val="8ECAE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5" name="Text 21"/>
          <ns0:cNvSpPr/>
          <ns0:nvPr/>
        </ns0:nvSpPr>
        <ns0:spPr>
          <a:xfrm>
            <a:off x="9363456" y="4572000"/>
            <a:ext cx="256032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CA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</a:t>
            </a:r>
            <a:endParaRPr lang="en-US" sz="1600" dirty="0"/>
          </a:p>
        </ns0:txBody>
      </ns0:sp>
      <ns0:sp>
        <ns0:nvSpPr>
          <ns0:cNvPr id="26" name="Text 22"/>
          <ns0:cNvSpPr/>
          <ns0:nvPr/>
        </ns0:nvSpPr>
        <ns0:spPr>
          <a:xfrm>
            <a:off x="9363456" y="495604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MRR@5: 0.978  ·  Latency: 12ms</a:t>
            </a:r>
            <a:endParaRPr lang="en-US" sz="1000" dirty="0"/>
          </a:p>
        </ns0:txBody>
      </ns0:sp>
      <ns0:sp>
        <ns0:nvSpPr>
          <ns0:cNvPr id="27" name="Text 23"/>
          <ns0:cNvSpPr/>
          <ns0:nvPr/>
        </ns0:nvSpPr>
        <ns0:spPr>
          <a:xfrm>
            <a:off x="9363456" y="5230368"/>
            <a:ext cx="2560320" cy="25603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0.125</a:t>
            </a:r>
            <a:endParaRPr lang="en-US" sz="1000" dirty="0"/>
          </a:p>
        </ns0:txBody>
      </ns0:sp>
      <ns0:sp>
        <ns0:nvSpPr>
          <ns0:cNvPr id="28" name="Text 24"/>
          <ns0:cNvSpPr/>
          <ns0:nvPr/>
        </ns0:nvSpPr>
        <ns0:spPr>
          <a:xfrm>
            <a:off x="9363456" y="5504688"/>
            <a:ext cx="2560320" cy="73152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strong lexically, but still weak on semantic answer quality</a:t>
            </a:r>
            <a:endParaRPr lang="en-US" sz="950" dirty="0"/>
          </a:p>
        </ns0:txBody>
      </ns0:sp>
    </ns0:spTree>
  </ns0:cSld>
  <ns0:clrMapOvr>
    <a:masterClrMapping/>
  </ns0:clrMapOvr>
</ns0:sld>
</file>

<file path=ppt/slides/slide10.xml><?xml version="1.0" encoding="utf-8"?>
<ns0:sld xmlns:a="http://schemas.openxmlformats.org/drawingml/2006/main" xmlns:ns0="http://schemas.openxmlformats.org/presentationml/2006/main">
  <ns0:cSld name="Slide 10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KEY FINDINGS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Results Tell Us</a:t>
            </a:r>
            <a:endParaRPr lang="en-US" sz="32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365760" y="137160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365760" y="1371600"/>
            <a:ext cx="411480" cy="1554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365760" y="192024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868680" y="146304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Precision ≠ Generation Quality</a:t>
            </a:r>
            <a:endParaRPr lang="en-US" sz="13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868680" y="184708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P@5 = 0.862 but Answer Relevance = 0.125. High lexical precision does not guarantee semantic alignment with query intent.</a:t>
            </a:r>
            <a:endParaRPr lang="en-US" sz="1050" dirty="0"/>
          </a:p>
        </ns0:txBody>
      </ns0:sp>
      <ns0:sp>
        <ns0:nvSpPr>
          <ns0:cNvPr id="10" name="Shape 8"/>
          <ns0:cNvSpPr/>
          <ns0:nvPr/>
        </ns0:nvSpPr>
        <ns0:spPr>
          <a:xfrm>
            <a:off x="6309360" y="137160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1" name="Shape 9"/>
          <ns0:cNvSpPr/>
          <ns0:nvPr/>
        </ns0:nvSpPr>
        <ns0:spPr>
          <a:xfrm>
            <a:off x="6309360" y="1371600"/>
            <a:ext cx="41148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12" name="Text 10"/>
          <ns0:cNvSpPr/>
          <ns0:nvPr/>
        </ns0:nvSpPr>
        <ns0:spPr>
          <a:xfrm>
            <a:off x="6309360" y="192024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6812280" y="146304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BM25 is a strong lexical baseline</a:t>
            </a:r>
            <a:endParaRPr lang="en-US" sz="13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6812280" y="184708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becomes strongest at chunk 1024 on MRR@5, but dense retrievers still surface passages that align better with answer intent.</a:t>
            </a:r>
            <a:endParaRPr lang="en-US" sz="105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365760" y="315468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6" name="Shape 14"/>
          <ns0:cNvSpPr/>
          <ns0:nvPr/>
        </ns0:nvSpPr>
        <ns0:spPr>
          <a:xfrm>
            <a:off x="365760" y="3154680"/>
            <a:ext cx="411480" cy="1554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ns0:spPr>
      </ns0:sp>
      <ns0:sp>
        <ns0:nvSpPr>
          <ns0:cNvPr id="17" name="Text 15"/>
          <ns0:cNvSpPr/>
          <ns0:nvPr/>
        </ns0:nvSpPr>
        <ns0:spPr>
          <a:xfrm>
            <a:off x="365760" y="370332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868680" y="324612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BGE is the best overall dense retriever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868680" y="363016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leads the dense models at chunks 256 and 512 (MRR@5 = 0.990). Model scale and task-specific tuning still pay off.</a:t>
            </a:r>
            <a:endParaRPr lang="en-US" sz="1050" dirty="0"/>
          </a:p>
        </ns0:txBody>
      </ns0:sp>
      <ns0:sp>
        <ns0:nvSpPr>
          <ns0:cNvPr id="20" name="Shape 18"/>
          <ns0:cNvSpPr/>
          <ns0:nvPr/>
        </ns0:nvSpPr>
        <ns0:spPr>
          <a:xfrm>
            <a:off x="6309360" y="315468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1" name="Shape 19"/>
          <ns0:cNvSpPr/>
          <ns0:nvPr/>
        </ns0:nvSpPr>
        <ns0:spPr>
          <a:xfrm>
            <a:off x="6309360" y="3154680"/>
            <a:ext cx="411480" cy="1554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ns0:spPr>
      </ns0:sp>
      <ns0:sp>
        <ns0:nvSpPr>
          <ns0:cNvPr id="22" name="Text 20"/>
          <ns0:cNvSpPr/>
          <ns0:nvPr/>
        </ns0:nvSpPr>
        <ns0:spPr>
          <a:xfrm>
            <a:off x="6309360" y="370332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6812280" y="324612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MiniLM is production-optimal</a:t>
            </a:r>
            <a:endParaRPr lang="en-US" sz="13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6812280" y="363016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6.8ms latency — about 98.5% of BGE's MRR@5 at chunk 512. Best speed-accuracy trade-off for latency-sensitive applications.</a:t>
            </a:r>
            <a:endParaRPr lang="en-US" sz="1050" dirty="0"/>
          </a:p>
        </ns0:txBody>
      </ns0:sp>
      <ns0:sp>
        <ns0:nvSpPr>
          <ns0:cNvPr id="25" name="Shape 23"/>
          <ns0:cNvSpPr/>
          <ns0:nvPr/>
        </ns0:nvSpPr>
        <ns0:spPr>
          <a:xfrm>
            <a:off x="365760" y="493776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26" name="Shape 24"/>
          <ns0:cNvSpPr/>
          <ns0:nvPr/>
        </ns0:nvSpPr>
        <ns0:spPr>
          <a:xfrm>
            <a:off x="365760" y="4937760"/>
            <a:ext cx="41148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27" name="Text 25"/>
          <ns0:cNvSpPr/>
          <ns0:nvPr/>
        </ns0:nvSpPr>
        <ns0:spPr>
          <a:xfrm>
            <a:off x="365760" y="548640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ns0:txBody>
      </ns0:sp>
      <ns0:sp>
        <ns0:nvSpPr>
          <ns0:cNvPr id="28" name="Text 26"/>
          <ns0:cNvSpPr/>
          <ns0:nvPr/>
        </ns0:nvSpPr>
        <ns0:spPr>
          <a:xfrm>
            <a:off x="868680" y="502920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512 is the sweet spot</a:t>
            </a:r>
            <a:endParaRPr lang="en-US" sz="1300" dirty="0"/>
          </a:p>
        </ns0:txBody>
      </ns0:sp>
      <ns0:sp>
        <ns0:nvSpPr>
          <ns0:cNvPr id="29" name="Text 27"/>
          <ns0:cNvSpPr/>
          <ns0:nvPr/>
        </ns0:nvSpPr>
        <ns0:spPr>
          <a:xfrm>
            <a:off x="868680" y="541324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MRR, Precision, and Recall. 256 = max precision; 1024 = max recall; 512 = best overall.</a:t>
            </a:r>
            <a:endParaRPr lang="en-US" sz="1050" dirty="0"/>
          </a:p>
        </ns0:txBody>
      </ns0:sp>
      <ns0:sp>
        <ns0:nvSpPr>
          <ns0:cNvPr id="30" name="Shape 28"/>
          <ns0:cNvSpPr/>
          <ns0:nvPr/>
        </ns0:nvSpPr>
        <ns0:spPr>
          <a:xfrm>
            <a:off x="6309360" y="4937760"/>
            <a:ext cx="5577840" cy="1554480"/>
          </a:xfrm>
          <a:prstGeom prst="rect">
            <a:avLst/>
          </a:prstGeom>
          <a:solidFill>
            <a:srgbClr val="122844"/>
          </a:solidFill>
          <a:ln w="9525">
            <a:solidFill>
              <a:srgbClr val="7FAA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31" name="Shape 29"/>
          <ns0:cNvSpPr/>
          <ns0:nvPr/>
        </ns0:nvSpPr>
        <ns0:spPr>
          <a:xfrm>
            <a:off x="6309360" y="4937760"/>
            <a:ext cx="411480" cy="1554480"/>
          </a:xfrm>
          <a:prstGeom prst="rect">
            <a:avLst/>
          </a:prstGeom>
          <a:solidFill>
            <a:srgbClr val="7FAACC"/>
          </a:solidFill>
          <a:ln w="12700">
            <a:solidFill>
              <a:srgbClr val="7FAACC"/>
            </a:solidFill>
            <a:prstDash val="solid"/>
          </a:ln>
        </ns0:spPr>
      </ns0:sp>
      <ns0:sp>
        <ns0:nvSpPr>
          <ns0:cNvPr id="32" name="Text 30"/>
          <ns0:cNvSpPr/>
          <ns0:nvPr/>
        </ns0:nvSpPr>
        <ns0:spPr>
          <a:xfrm>
            <a:off x="6309360" y="5486400"/>
            <a:ext cx="41148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ns0:txBody>
      </ns0:sp>
      <ns0:sp>
        <ns0:nvSpPr>
          <ns0:cNvPr id="33" name="Text 31"/>
          <ns0:cNvSpPr/>
          <ns0:nvPr/>
        </ns0:nvSpPr>
        <ns0:spPr>
          <a:xfrm>
            <a:off x="6812280" y="5029200"/>
            <a:ext cx="4892040" cy="347472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AA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 stays grounded</a:t>
            </a:r>
            <a:endParaRPr lang="en-US" sz="1300" dirty="0"/>
          </a:p>
        </ns0:txBody>
      </ns0:sp>
      <ns0:sp>
        <ns0:nvSpPr>
          <ns0:cNvPr id="34" name="Text 32"/>
          <ns0:cNvSpPr/>
          <ns0:nvPr/>
        </ns0:nvSpPr>
        <ns0:spPr>
          <a:xfrm>
            <a:off x="6812280" y="5413248"/>
            <a:ext cx="4892040" cy="1005840"/>
          </a:xfrm>
          <a:prstGeom prst="rect">
            <a:avLst/>
          </a:prstGeom>
          <a:noFill/>
          <a:ln/>
        </ns0:spPr>
        <ns0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stays very high (0.986–0.997) across all models. Retrieval quality — not generation grounding — remains the bottleneck.</a:t>
            </a:r>
            <a:endParaRPr lang="en-US" sz="1050" dirty="0"/>
          </a:p>
        </ns0:txBody>
      </ns0:sp>
    </ns0:spTree>
  </ns0:cSld>
  <ns0:clrMapOvr>
    <a:masterClrMapping/>
  </ns0:clrMapOvr>
</ns0:sld>
</file>

<file path=ppt/slides/slide11.xml><?xml version="1.0" encoding="utf-8"?>
<ns0:sld xmlns:a="http://schemas.openxmlformats.org/drawingml/2006/main" xmlns:ns0="http://schemas.openxmlformats.org/presentationml/2006/main">
  <ns0:cSld name="Slide 11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Text 1"/>
          <ns0:cNvSpPr/>
          <ns0:nvPr/>
        </ns0:nvSpPr>
        <ns0:spPr>
          <a:xfrm>
            <a:off x="457200" y="109728"/>
            <a:ext cx="112745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RECOMMENDATIONS</a:t>
            </a:r>
            <a:endParaRPr lang="en-US" sz="1100" dirty="0"/>
          </a:p>
        </ns0:txBody>
      </ns0:sp>
      <ns0:sp>
        <ns0:nvSpPr>
          <ns0:cNvPr id="4" name="Text 2"/>
          <ns0:cNvSpPr/>
          <ns0:nvPr/>
        </ns0:nvSpPr>
        <ns0:spPr>
          <a:xfrm>
            <a:off x="457200" y="640080"/>
            <a:ext cx="11274552" cy="5943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Deployment and Practical Guidelines</a:t>
            </a:r>
            <a:endParaRPr lang="en-US" sz="320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365760" y="1280160"/>
            <a:ext cx="5394960" cy="49377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6" name="Text 4"/>
          <ns0:cNvSpPr/>
          <ns0:nvPr/>
        </ns0:nvSpPr>
        <ns0:spPr>
          <a:xfrm>
            <a:off x="548640" y="1371600"/>
            <a:ext cx="50292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System</a:t>
            </a:r>
            <a:endParaRPr lang="en-US" sz="1400" dirty="0"/>
          </a:p>
        </ns0:txBody>
      </ns0:sp>
      <ns0:sp>
        <ns0:nvSpPr>
          <ns0:cNvPr id="7" name="Text 5"/>
          <ns0:cNvSpPr/>
          <ns0:nvPr/>
        </ns0:nvSpPr>
        <ns0:spPr>
          <a:xfrm>
            <a:off x="548640" y="182880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Streamlit UI — live model switching (BM25 / MiniLM / MPNet / BGE)</a:t>
            </a:r>
            <a:endParaRPr lang="en-US" sz="11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548640" y="237744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Source attribution chips per answer — title + similarity score</a:t>
            </a:r>
            <a:endParaRPr lang="en-US" sz="1100" dirty="0"/>
          </a:p>
        </ns0:txBody>
      </ns0:sp>
      <ns0:sp>
        <ns0:nvSpPr>
          <ns0:cNvPr id="9" name="Text 7"/>
          <ns0:cNvSpPr/>
          <ns0:nvPr/>
        </ns0:nvSpPr>
        <ns0:spPr>
          <a:xfrm>
            <a:off x="548640" y="292608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Searchable paper browser — all 150 papers in sidebar</a:t>
            </a:r>
            <a:endParaRPr lang="en-US" sz="1100" dirty="0"/>
          </a:p>
        </ns0:txBody>
      </ns0:sp>
      <ns0:sp>
        <ns0:nvSpPr>
          <ns0:cNvPr id="10" name="Text 8"/>
          <ns0:cNvSpPr/>
          <ns0:nvPr/>
        </ns0:nvSpPr>
        <ns0:spPr>
          <a:xfrm>
            <a:off x="548640" y="347472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Performance metric cards update with model selection</a:t>
            </a:r>
            <a:endParaRPr lang="en-US" sz="11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548640" y="402336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CLI: python main.py --model BGE --top_k 5</a:t>
            </a:r>
            <a:endParaRPr lang="en-US" sz="11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548640" y="457200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Full benchmark: python scripts/run_experiments.py</a:t>
            </a:r>
            <a:endParaRPr lang="en-US" sz="1100" dirty="0"/>
          </a:p>
        </ns0:txBody>
      </ns0:sp>
      <ns0:sp>
        <ns0:nvSpPr>
          <ns0:cNvPr id="13" name="Text 11"/>
          <ns0:cNvSpPr/>
          <ns0:nvPr/>
        </ns0:nvSpPr>
        <ns0:spPr>
          <a:xfrm>
            <a:off x="548640" y="512064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Apple MPS auto-detected — GPU-accelerated on Mac</a:t>
            </a:r>
            <a:endParaRPr lang="en-US" sz="11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548640" y="5669280"/>
            <a:ext cx="5029200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Embedding cache — reruns skip re-encoding (saves ~15 min)</a:t>
            </a:r>
            <a:endParaRPr lang="en-US" sz="11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6035040" y="1280160"/>
            <a:ext cx="5852160" cy="493776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6" name="Text 14"/>
          <ns0:cNvSpPr/>
          <ns0:nvPr/>
        </ns0:nvSpPr>
        <ns0:spPr>
          <a:xfrm>
            <a:off x="6217920" y="1371600"/>
            <a:ext cx="5486400" cy="3657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4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6217920" y="182880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Use BGE</a:t>
            </a:r>
            <a:endParaRPr lang="en-US" sz="12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6217920" y="217627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dense retrieval quality (MRR@5 0.990 at chunk 512). Justified for quality-critical applications.</a:t>
            </a:r>
            <a:endParaRPr lang="en-US" sz="11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6217920" y="269748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Use MiniLM for Speed</a:t>
            </a:r>
            <a:endParaRPr lang="en-US" sz="12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217920" y="304495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6.8ms latency at about 98.5% of BGE's MRR@5 — production default.</a:t>
            </a:r>
            <a:endParaRPr lang="en-US" sz="110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6217920" y="356616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Chunk at 512 Tokens</a:t>
            </a:r>
            <a:endParaRPr lang="en-US" sz="1200" dirty="0"/>
          </a:p>
        </ns0:txBody>
      </ns0:sp>
      <ns0:sp>
        <ns0:nvSpPr>
          <ns0:cNvPr id="22" name="Text 20"/>
          <ns0:cNvSpPr/>
          <ns0:nvPr/>
        </ns0:nvSpPr>
        <ns0:spPr>
          <a:xfrm>
            <a:off x="6217920" y="391363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balance of MRR, precision and recall across all models.</a:t>
            </a:r>
            <a:endParaRPr lang="en-US" sz="1100" dirty="0"/>
          </a:p>
        </ns0:txBody>
      </ns0:sp>
      <ns0:sp>
        <ns0:nvSpPr>
          <ns0:cNvPr id="23" name="Text 21"/>
          <ns0:cNvSpPr/>
          <ns0:nvPr/>
        </ns0:nvSpPr>
        <ns0:spPr>
          <a:xfrm>
            <a:off x="6217920" y="443484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Avoid BM25 for Generation</a:t>
            </a:r>
            <a:endParaRPr lang="en-US" sz="1200" dirty="0"/>
          </a:p>
        </ns0:txBody>
      </ns0:sp>
      <ns0:sp>
        <ns0:nvSpPr>
          <ns0:cNvPr id="24" name="Text 22"/>
          <ns0:cNvSpPr/>
          <ns0:nvPr/>
        </ns0:nvSpPr>
        <ns0:spPr>
          <a:xfrm>
            <a:off x="6217920" y="478231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0.125 Answer Relevance keeps it unsuitable as a standalone RAG generator despite fast retrieval.</a:t>
            </a:r>
            <a:endParaRPr lang="en-US" sz="1100" dirty="0"/>
          </a:p>
        </ns0:txBody>
      </ns0:sp>
      <ns0:sp>
        <ns0:nvSpPr>
          <ns0:cNvPr id="25" name="Text 23"/>
          <ns0:cNvSpPr/>
          <ns0:nvPr/>
        </ns0:nvSpPr>
        <ns0:spPr>
          <a:xfrm>
            <a:off x="6217920" y="5303520"/>
            <a:ext cx="54864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🔮 Future Work</a:t>
            </a:r>
            <a:endParaRPr lang="en-US" sz="1200" dirty="0"/>
          </a:p>
        </ns0:txBody>
      </ns0:sp>
      <ns0:sp>
        <ns0:nvSpPr>
          <ns0:cNvPr id="26" name="Text 24"/>
          <ns0:cNvSpPr/>
          <ns0:nvPr/>
        </ns0:nvSpPr>
        <ns0:spPr>
          <a:xfrm>
            <a:off x="6217920" y="5650992"/>
            <a:ext cx="5486400" cy="4114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BM25+dense, cross-encoder reranking, multi-domain evaluation.</a:t>
            </a:r>
            <a:endParaRPr lang="en-US" sz="1100" dirty="0"/>
          </a:p>
        </ns0:txBody>
      </ns0:sp>
    </ns0:spTree>
  </ns0:cSld>
  <ns0:clrMapOvr>
    <a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Team, Responsibilities, and Contributions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1430000" cy="9144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332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3776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3484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7220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66928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40664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16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0372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64108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87552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7260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37260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109960" y="157276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07040" y="1417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607040" y="175564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79476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66960" y="1664208"/>
            <a:ext cx="1234440" cy="0"/>
          </a:xfrm>
          <a:prstGeom prst="line">
            <a:avLst/>
          </a:prstGeom>
          <a:noFill/>
          <a:ln w="9525">
            <a:solidFill>
              <a:srgbClr val="0077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2331720"/>
            <a:ext cx="7315200" cy="3840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242316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Allocation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2852928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8529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data collection pipeline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28529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35040" y="28529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(Review)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319125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extraction &amp; chunking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23360" y="31912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035040" y="319125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529584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52958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integration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23360" y="352958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035040" y="352958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(Support)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86791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23360" y="386791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35040" y="38679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(Support)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206240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420624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baseline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023360" y="420624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35040" y="420624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454456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generator + rate limiter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023360" y="454456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(Primary)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035040" y="454456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(Review)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4882896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882896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023360" y="48828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035040" y="488289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2920" y="522122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023360" y="52212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(Primary)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035040" y="522122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(Review)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5559552"/>
            <a:ext cx="7315200" cy="338328"/>
          </a:xfrm>
          <a:prstGeom prst="rect">
            <a:avLst/>
          </a:prstGeom>
          <a:solidFill>
            <a:srgbClr val="0D1E35"/>
          </a:solidFill>
          <a:ln w="12700">
            <a:solidFill>
              <a:srgbClr val="0D1E3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555955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QA pairs &amp; experiment runner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023360" y="555955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(Equal)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035040" y="55595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955280" y="2331720"/>
            <a:ext cx="4206240" cy="384048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8138160" y="2423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Contributions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8138160" y="3017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Srikant Reddy Nandireddy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813816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700773949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138160" y="36758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3600" dirty="0"/>
          </a:p>
        </p:txBody>
      </p:sp>
      <p:sp>
        <p:nvSpPr>
          <p:cNvPr id="73" name="Text 71"/>
          <p:cNvSpPr/>
          <p:nvPr/>
        </p:nvSpPr>
        <p:spPr>
          <a:xfrm>
            <a:off x="8138160" y="4389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Harshit Naidu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8138160" y="4736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700776786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138160" y="50474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Bibliography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Brown et al. (2020). Language models are few-shot learners. NeurIPS 33.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6712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Gao et al. (2023). RAG for Large Language Models: A Survey. arXiv:2312.10997.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008376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Izacard &amp; Grave (2021). Leveraging Passage Retrieval with Generative Models. EACL.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9624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Karpukhin et al. (2020). Dense Passage Retrieval for Open-Domain QA. EMNLP.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69087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Lewis et al. (2020). Retrieval-Augmented Generation for Knowledge-Intensive NLP. NeurIPS.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13258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Reimers &amp; Gurevych (2019). Sentence-BERT. EMNLP 2019.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216712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Robertson &amp; Zaragoza (2009). The Probabilistic Relevance Framework: BM25. Foundations &amp; Trends IR.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3008376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Santhanam et al. (2022). ColBERTv2. NAACL 2022.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3849624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Shi et al. (2023). REPLUG. EMNLP 2023.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69087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Xiao et al. (2023). C-Pack: BGE embedding resources. arXiv:2309.07597.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ns0:sld xmlns:a="http://schemas.openxmlformats.org/drawingml/2006/main" xmlns:ns0="http://schemas.openxmlformats.org/presentationml/2006/main">
  <ns0:cSld name="Slide 14">
    <ns0:bg>
      <ns0:bgPr>
        <a:solidFill>
          <a:srgbClr val="0A1628"/>
        </a:solidFill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hape 0"/>
          <ns0:cNvSpPr/>
          <ns0:nvPr/>
        </ns0:nvSpPr>
        <ns0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ns0:spPr>
      </ns0:sp>
      <ns0:sp>
        <ns0:nvSpPr>
          <ns0:cNvPr id="3" name="Shape 1"/>
          <ns0:cNvSpPr/>
          <ns0:nvPr/>
        </ns0:nvSpPr>
        <ns0:spPr>
          <a:xfrm>
            <a:off x="0" y="6784848"/>
            <a:ext cx="12188952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914400" y="1097280"/>
            <a:ext cx="10360152" cy="128016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ns0:txBody>
      </ns0:sp>
      <ns0:sp>
        <ns0:nvSpPr>
          <ns0:cNvPr id="5" name="Text 3"/>
          <ns0:cNvSpPr/>
          <ns0:nvPr/>
        </ns0:nvSpPr>
        <ns0:spPr>
          <a:xfrm>
            <a:off x="914400" y="2651760"/>
            <a:ext cx="10360152" cy="45720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github.com/GodVilan/arXiv-rag</a:t>
            </a:r>
            <a:endParaRPr lang="en-US" sz="1800" dirty="0"/>
          </a:p>
        </ns0:txBody>
      </ns0:sp>
      <ns0:sp>
        <ns0:nvSpPr>
          <ns0:cNvPr id="6" name="Shape 4"/>
          <ns0:cNvSpPr/>
          <ns0:nvPr/>
        </ns0:nvSpPr>
        <ns0:spPr>
          <a:xfrm>
            <a:off x="137160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7" name="Text 5"/>
          <ns0:cNvSpPr/>
          <ns0:nvPr/>
        </ns0:nvSpPr>
        <ns0:spPr>
          <a:xfrm>
            <a:off x="1371600" y="3474720"/>
            <a:ext cx="22860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0.990</a:t>
            </a:r>
            <a:endParaRPr lang="en-US" sz="40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371600" y="41148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MRR@5</a:t>
            </a:r>
            <a:endParaRPr lang="en-US" sz="100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393192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0" name="Text 8"/>
          <ns0:cNvSpPr/>
          <ns0:nvPr/>
        </ns0:nvSpPr>
        <ns0:spPr>
          <a:xfrm>
            <a:off x="3931920" y="3474720"/>
            <a:ext cx="22860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7.3×</a:t>
            </a:r>
            <a:endParaRPr lang="en-US" sz="4000" dirty="0"/>
          </a:p>
        </ns0:txBody>
      </ns0:sp>
      <ns0:sp>
        <ns0:nvSpPr>
          <ns0:cNvPr id="11" name="Text 9"/>
          <ns0:cNvSpPr/>
          <ns0:nvPr/>
        </ns0:nvSpPr>
        <ns0:spPr>
          <a:xfrm>
            <a:off x="3931920" y="41148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BM25 AR Gap</a:t>
            </a:r>
            <a:endParaRPr lang="en-US" sz="1000" dirty="0"/>
          </a:p>
        </ns0:txBody>
      </ns0:sp>
      <ns0:sp>
        <ns0:nvSpPr>
          <ns0:cNvPr id="12" name="Shape 10"/>
          <ns0:cNvSpPr/>
          <ns0:nvPr/>
        </ns0:nvSpPr>
        <ns0:spPr>
          <a:xfrm>
            <a:off x="649224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3" name="Text 11"/>
          <ns0:cNvSpPr/>
          <ns0:nvPr/>
        </ns0:nvSpPr>
        <ns0:spPr>
          <a:xfrm>
            <a:off x="6492240" y="3474720"/>
            <a:ext cx="22860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7ms</a:t>
            </a:r>
            <a:endParaRPr lang="en-US" sz="4000" dirty="0"/>
          </a:p>
        </ns0:txBody>
      </ns0:sp>
      <ns0:sp>
        <ns0:nvSpPr>
          <ns0:cNvPr id="14" name="Text 12"/>
          <ns0:cNvSpPr/>
          <ns0:nvPr/>
        </ns0:nvSpPr>
        <ns0:spPr>
          <a:xfrm>
            <a:off x="6492240" y="41148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Latency</a:t>
            </a:r>
            <a:endParaRPr lang="en-US" sz="1000" dirty="0"/>
          </a:p>
        </ns0:txBody>
      </ns0:sp>
      <ns0:sp>
        <ns0:nvSpPr>
          <ns0:cNvPr id="15" name="Shape 13"/>
          <ns0:cNvSpPr/>
          <ns0:nvPr/>
        </ns0:nvSpPr>
        <ns0:spPr>
          <a:xfrm>
            <a:off x="9052560" y="3383280"/>
            <a:ext cx="2286000" cy="1143000"/>
          </a:xfrm>
          <a:prstGeom prst="rect">
            <a:avLst/>
          </a:prstGeom>
          <a:solidFill>
            <a:srgbClr val="122844"/>
          </a:solidFill>
          <a:ln w="9525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ns0:spPr>
      </ns0:sp>
      <ns0:sp>
        <ns0:nvSpPr>
          <ns0:cNvPr id="16" name="Text 14"/>
          <ns0:cNvSpPr/>
          <ns0:nvPr/>
        </ns0:nvSpPr>
        <ns0:spPr>
          <a:xfrm>
            <a:off x="9052560" y="3474720"/>
            <a:ext cx="2286000" cy="64008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</a:t>
            </a:r>
            <a:endParaRPr lang="en-US" sz="4000" dirty="0"/>
          </a:p>
        </ns0:txBody>
      </ns0:sp>
      <ns0:sp>
        <ns0:nvSpPr>
          <ns0:cNvPr id="17" name="Text 15"/>
          <ns0:cNvSpPr/>
          <ns0:nvPr/>
        </ns0:nvSpPr>
        <ns0:spPr>
          <a:xfrm>
            <a:off x="9052560" y="4114800"/>
            <a:ext cx="2286000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Faithfulness</a:t>
            </a:r>
            <a:endParaRPr lang="en-US" sz="1000" dirty="0"/>
          </a:p>
        </ns0:txBody>
      </ns0:sp>
      <ns0:sp>
        <ns0:nvSpPr>
          <ns0:cNvPr id="18" name="Text 16"/>
          <ns0:cNvSpPr/>
          <ns0:nvPr/>
        </ns0:nvSpPr>
        <ns0:spPr>
          <a:xfrm>
            <a:off x="914400" y="4846320"/>
            <a:ext cx="10360152" cy="32004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 Reddy Nandireddy  ·  Harshit Naidu</a:t>
            </a:r>
            <a:endParaRPr lang="en-US" sz="1300" dirty="0"/>
          </a:p>
        </ns0:txBody>
      </ns0:sp>
      <ns0:sp>
        <ns0:nvSpPr>
          <ns0:cNvPr id="19" name="Text 17"/>
          <ns0:cNvSpPr/>
          <ns0:nvPr/>
        </ns0:nvSpPr>
        <ns0:spPr>
          <a:xfrm>
            <a:off x="914400" y="5166360"/>
            <a:ext cx="10360152" cy="274320"/>
          </a:xfrm>
          <a:prstGeom prst="rect">
            <a:avLst/>
          </a:prstGeom>
          <a:noFill/>
          <a:ln/>
        </ns0:spPr>
        <ns0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CS5720 Neural Networks and Deep Learning  ·  University of Central Missouri  ·  April 2026</a:t>
            </a:r>
            <a:endParaRPr lang="en-US" sz="1100" dirty="0"/>
          </a:p>
        </ns0:txBody>
      </ns0:sp>
    </ns0:spTree>
  </ns0:cSld>
  <ns0:clrMapOvr>
    <a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Empirical Evaluation of Embedding Models in RAG</dc:title>
  <dc:subject>PptxGenJS Presentation</dc:subject>
  <dc:creator>Srikant Reddy Nandireddy &amp; Harshit Naidu</dc:creator>
  <cp:lastModifiedBy>Srikant Reddy Nandireddy &amp; Harshit Naidu</cp:lastModifiedBy>
  <cp:revision>1</cp:revision>
  <dcterms:created xsi:type="dcterms:W3CDTF">2026-04-21T02:45:25Z</dcterms:created>
  <dcterms:modified xsi:type="dcterms:W3CDTF">2026-04-21T02:45:25Z</dcterms:modified>
</cp:coreProperties>
</file>